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C5B8E-F2D8-4A69-94E8-B80E4C86A4B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C106B-A75A-4800-9E25-B9DE440B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8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C106B-A75A-4800-9E25-B9DE440B9B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35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99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74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7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5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28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3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40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9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07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84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0020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8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225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46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6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1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F39DDD3-8015-49D3-9F10-C7FD79743FB0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BBBD8A1-4770-4B10-9DA8-BE225741B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87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582F-935E-A707-5584-D9550B011A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M57 Patents Data Leakage Investigation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C75B7-5307-109B-CBD4-73D4754CC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Course: </a:t>
            </a:r>
            <a:r>
              <a:rPr lang="en-US" dirty="0">
                <a:solidFill>
                  <a:schemeClr val="tx1"/>
                </a:solidFill>
              </a:rPr>
              <a:t>GOV07020NU24 – Conduct Advanced Forensic Investigations for Evidence Analysis and Reporting</a:t>
            </a:r>
          </a:p>
          <a:p>
            <a:r>
              <a:rPr lang="en-US" b="1" dirty="0">
                <a:solidFill>
                  <a:schemeClr val="tx1"/>
                </a:solidFill>
              </a:rPr>
              <a:t>Assessment: </a:t>
            </a:r>
            <a:r>
              <a:rPr lang="en-US" dirty="0">
                <a:solidFill>
                  <a:schemeClr val="tx1"/>
                </a:solidFill>
              </a:rPr>
              <a:t>Summative Assessment</a:t>
            </a:r>
          </a:p>
        </p:txBody>
      </p:sp>
    </p:spTree>
    <p:extLst>
      <p:ext uri="{BB962C8B-B14F-4D97-AF65-F5344CB8AC3E}">
        <p14:creationId xmlns:p14="http://schemas.microsoft.com/office/powerpoint/2010/main" val="129635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4C97-1CC1-E860-D567-BB031D7FE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69B00-6D1F-04D8-4988-D7B1008FF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M57 Patents develops renewable energy storage systems in San Jose</a:t>
            </a:r>
          </a:p>
          <a:p>
            <a:r>
              <a:rPr lang="en-US" dirty="0">
                <a:solidFill>
                  <a:schemeClr val="tx1"/>
                </a:solidFill>
              </a:rPr>
              <a:t>On July 17, 2018, suspicious activity was detected from Jo Smith’s workstation</a:t>
            </a:r>
          </a:p>
          <a:p>
            <a:r>
              <a:rPr lang="en-US" dirty="0">
                <a:solidFill>
                  <a:schemeClr val="tx1"/>
                </a:solidFill>
              </a:rPr>
              <a:t>Confidential battery design files appeared on a competitor’s website</a:t>
            </a:r>
          </a:p>
          <a:p>
            <a:r>
              <a:rPr lang="en-US" b="1" dirty="0">
                <a:solidFill>
                  <a:schemeClr val="tx1"/>
                </a:solidFill>
              </a:rPr>
              <a:t>Suspect: </a:t>
            </a:r>
            <a:r>
              <a:rPr lang="en-US" dirty="0">
                <a:solidFill>
                  <a:schemeClr val="tx1"/>
                </a:solidFill>
              </a:rPr>
              <a:t>Jo Smith, Senior Engineer (resigned recently)Digital evidence collected: Disk image, Memory dump, Email archive, Network capture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166865-0C2B-FBC8-0E58-00B5FD01A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4426" y="3148693"/>
            <a:ext cx="36861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3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0A9D-3BC4-29AF-9A23-3F670392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567162"/>
            <a:ext cx="8534400" cy="1507067"/>
          </a:xfrm>
        </p:spPr>
        <p:txBody>
          <a:bodyPr/>
          <a:lstStyle/>
          <a:p>
            <a:r>
              <a:rPr lang="en-US" dirty="0"/>
              <a:t>Evidence Handling &amp; Integrity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D2F8C-4CAC-4FC1-E25D-65FDBE583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783771"/>
            <a:ext cx="6054044" cy="3570515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Followed core forensic principles: </a:t>
            </a:r>
            <a:r>
              <a:rPr lang="en-US" dirty="0">
                <a:solidFill>
                  <a:schemeClr val="tx1"/>
                </a:solidFill>
              </a:rPr>
              <a:t>Preservation, Authentication, Analysis, Documentation, Presentation</a:t>
            </a:r>
          </a:p>
          <a:p>
            <a:r>
              <a:rPr lang="en-US" dirty="0">
                <a:solidFill>
                  <a:schemeClr val="tx1"/>
                </a:solidFill>
              </a:rPr>
              <a:t>Evidence acquired using FTK Imager with write-block protection</a:t>
            </a:r>
          </a:p>
          <a:p>
            <a:r>
              <a:rPr lang="en-US" dirty="0">
                <a:solidFill>
                  <a:schemeClr val="tx1"/>
                </a:solidFill>
              </a:rPr>
              <a:t>Hash values (MD5 &amp; SHA1) generated to confirm integrity</a:t>
            </a:r>
          </a:p>
          <a:p>
            <a:r>
              <a:rPr lang="en-US" dirty="0">
                <a:solidFill>
                  <a:schemeClr val="tx1"/>
                </a:solidFill>
              </a:rPr>
              <a:t>Chain-of-custody form completed for all transfers</a:t>
            </a:r>
          </a:p>
          <a:p>
            <a:r>
              <a:rPr lang="en-US" dirty="0">
                <a:solidFill>
                  <a:schemeClr val="tx1"/>
                </a:solidFill>
              </a:rPr>
              <a:t>Legal authorization obtained from company management</a:t>
            </a:r>
          </a:p>
          <a:p>
            <a:r>
              <a:rPr lang="en-US" dirty="0">
                <a:solidFill>
                  <a:schemeClr val="tx1"/>
                </a:solidFill>
              </a:rPr>
              <a:t>Non-relevant data excluded to maintain privacy and ethics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0EBB0-73E8-498F-F568-8BFF3442F5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05" t="20512" r="21248" b="22798"/>
          <a:stretch>
            <a:fillRect/>
          </a:stretch>
        </p:blipFill>
        <p:spPr>
          <a:xfrm>
            <a:off x="6738256" y="783771"/>
            <a:ext cx="5453744" cy="335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8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B05D-3530-492F-5864-957A7976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Forensic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12EA2-6029-E7C8-AFBA-8FE0B0F75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Tools used: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Autopsy and FTK Imager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Patent-related files found in Documents\Designs\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BatteryProject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Copy detected in USB Volume\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Work_Backup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Deleted ZIP archive recovered: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HybridBattery.zip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File timestamps show copying to USB on July 15</a:t>
            </a:r>
          </a:p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Email attachments sent to external domain: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greenpowertech.com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083188-6FF6-87F5-9DA8-08E1569C3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292" y="4457754"/>
            <a:ext cx="5282708" cy="2400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49E50C-8BA2-15F5-FF16-57AB47F6AA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81" t="16970" r="37364"/>
          <a:stretch>
            <a:fillRect/>
          </a:stretch>
        </p:blipFill>
        <p:spPr>
          <a:xfrm>
            <a:off x="9218612" y="19860"/>
            <a:ext cx="2951617" cy="437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41419-1693-9AF0-1C97-5AE0AF47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5563673" cy="1507067"/>
          </a:xfrm>
        </p:spPr>
        <p:txBody>
          <a:bodyPr/>
          <a:lstStyle/>
          <a:p>
            <a:r>
              <a:rPr lang="en-US" dirty="0"/>
              <a:t>Memory Forensic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A7212-1B69-07AE-A665-ED053E32A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5563673" cy="367937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Tool used: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Volatility Framework</a:t>
            </a:r>
          </a:p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Detected OS: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Windows XP SP3</a:t>
            </a:r>
          </a:p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Suspicious processes: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cmd.exe, WinRAR.exe, putty.exe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Outbound network connection to IP 203.0.113.5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Registry hives revealed USB serial and connection history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Command history showed copy *.* E:\Backup indicating file transfer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98F15-5A82-E3D4-EEE3-E8238CA6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885" y="2751"/>
            <a:ext cx="5944115" cy="3426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E5BE55-9872-8630-831A-4C50F46FA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884" y="4894918"/>
            <a:ext cx="5944115" cy="1963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34AD4B-54B9-3889-3C92-0A1032DC7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883" y="2744842"/>
            <a:ext cx="5944115" cy="230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7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F71B-52CB-CB9F-9B16-0F937AF5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5563673" cy="1684868"/>
          </a:xfrm>
        </p:spPr>
        <p:txBody>
          <a:bodyPr/>
          <a:lstStyle/>
          <a:p>
            <a:r>
              <a:rPr lang="en-US" dirty="0"/>
              <a:t>Network &amp; Threat 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61118-258F-FD7C-3F28-DB5A10060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5563673" cy="3801532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Tool used: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Wireshark</a:t>
            </a:r>
          </a:p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Applied filter: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ip.addr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== [Jo’s IP]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Detected encrypted outbound HTTPS session to greenpowertech.com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Large data transfer occurred between 17:25–17:35 on July 15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Event timing matched disk activity logs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Confirms exfiltration through network after USB copy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ECC1E-A1FB-1EE1-4C90-EA8D1C272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885" y="0"/>
            <a:ext cx="5944115" cy="2523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D230E0-1BEF-FD6A-CB88-1081A1559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884" y="2523963"/>
            <a:ext cx="5944115" cy="2322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F827FC-770D-1C8A-DF84-0731080DA3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014"/>
          <a:stretch>
            <a:fillRect/>
          </a:stretch>
        </p:blipFill>
        <p:spPr>
          <a:xfrm>
            <a:off x="6247883" y="3721664"/>
            <a:ext cx="5944117" cy="313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04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9B6D-EC7F-55DB-067F-8BE8FCD4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Reconstruction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57610A-0A8C-F2FF-ED35-A80ED534AD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494085"/>
              </p:ext>
            </p:extLst>
          </p:nvPr>
        </p:nvGraphicFramePr>
        <p:xfrm>
          <a:off x="684212" y="685800"/>
          <a:ext cx="7934325" cy="361473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644775">
                  <a:extLst>
                    <a:ext uri="{9D8B030D-6E8A-4147-A177-3AD203B41FA5}">
                      <a16:colId xmlns:a16="http://schemas.microsoft.com/office/drawing/2014/main" val="1462916304"/>
                    </a:ext>
                  </a:extLst>
                </a:gridCol>
                <a:gridCol w="2644775">
                  <a:extLst>
                    <a:ext uri="{9D8B030D-6E8A-4147-A177-3AD203B41FA5}">
                      <a16:colId xmlns:a16="http://schemas.microsoft.com/office/drawing/2014/main" val="1736047072"/>
                    </a:ext>
                  </a:extLst>
                </a:gridCol>
                <a:gridCol w="2644775">
                  <a:extLst>
                    <a:ext uri="{9D8B030D-6E8A-4147-A177-3AD203B41FA5}">
                      <a16:colId xmlns:a16="http://schemas.microsoft.com/office/drawing/2014/main" val="2269573486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Date/Time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Event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Source</a:t>
                      </a:r>
                    </a:p>
                  </a:txBody>
                  <a:tcPr marL="78581" marR="78581" marT="39291" marB="39291" anchor="ctr"/>
                </a:tc>
                <a:extLst>
                  <a:ext uri="{0D108BD9-81ED-4DB2-BD59-A6C34878D82A}">
                    <a16:rowId xmlns:a16="http://schemas.microsoft.com/office/drawing/2014/main" val="2189823888"/>
                  </a:ext>
                </a:extLst>
              </a:tr>
              <a:tr h="55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July 10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Accessed “BatteryProject.docx”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Disk</a:t>
                      </a:r>
                    </a:p>
                  </a:txBody>
                  <a:tcPr marL="78581" marR="78581" marT="39291" marB="39291" anchor="ctr"/>
                </a:tc>
                <a:extLst>
                  <a:ext uri="{0D108BD9-81ED-4DB2-BD59-A6C34878D82A}">
                    <a16:rowId xmlns:a16="http://schemas.microsoft.com/office/drawing/2014/main" val="1440513006"/>
                  </a:ext>
                </a:extLst>
              </a:tr>
              <a:tr h="55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July 12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USB device (SanDisk Ultra 32GB) connected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Registry</a:t>
                      </a:r>
                    </a:p>
                  </a:txBody>
                  <a:tcPr marL="78581" marR="78581" marT="39291" marB="39291" anchor="ctr"/>
                </a:tc>
                <a:extLst>
                  <a:ext uri="{0D108BD9-81ED-4DB2-BD59-A6C34878D82A}">
                    <a16:rowId xmlns:a16="http://schemas.microsoft.com/office/drawing/2014/main" val="1469825137"/>
                  </a:ext>
                </a:extLst>
              </a:tr>
              <a:tr h="55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July 15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Files copied and archived using WinRAR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Memory</a:t>
                      </a:r>
                    </a:p>
                  </a:txBody>
                  <a:tcPr marL="78581" marR="78581" marT="39291" marB="39291" anchor="ctr"/>
                </a:tc>
                <a:extLst>
                  <a:ext uri="{0D108BD9-81ED-4DB2-BD59-A6C34878D82A}">
                    <a16:rowId xmlns:a16="http://schemas.microsoft.com/office/drawing/2014/main" val="2068323728"/>
                  </a:ext>
                </a:extLst>
              </a:tr>
              <a:tr h="55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July 15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HTTPS transfer initiated to external IP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Network</a:t>
                      </a:r>
                    </a:p>
                  </a:txBody>
                  <a:tcPr marL="78581" marR="78581" marT="39291" marB="39291" anchor="ctr"/>
                </a:tc>
                <a:extLst>
                  <a:ext uri="{0D108BD9-81ED-4DB2-BD59-A6C34878D82A}">
                    <a16:rowId xmlns:a16="http://schemas.microsoft.com/office/drawing/2014/main" val="3187832962"/>
                  </a:ext>
                </a:extLst>
              </a:tr>
              <a:tr h="55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July 16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Email with attachments sent externally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Email</a:t>
                      </a:r>
                    </a:p>
                  </a:txBody>
                  <a:tcPr marL="78581" marR="78581" marT="39291" marB="39291" anchor="ctr"/>
                </a:tc>
                <a:extLst>
                  <a:ext uri="{0D108BD9-81ED-4DB2-BD59-A6C34878D82A}">
                    <a16:rowId xmlns:a16="http://schemas.microsoft.com/office/drawing/2014/main" val="2380558291"/>
                  </a:ext>
                </a:extLst>
              </a:tr>
              <a:tr h="55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July 17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Suspicious activity detected by SOC</a:t>
                      </a:r>
                    </a:p>
                  </a:txBody>
                  <a:tcPr marL="78581" marR="78581" marT="39291" marB="392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Logs</a:t>
                      </a:r>
                    </a:p>
                  </a:txBody>
                  <a:tcPr marL="78581" marR="78581" marT="39291" marB="39291" anchor="ctr"/>
                </a:tc>
                <a:extLst>
                  <a:ext uri="{0D108BD9-81ED-4DB2-BD59-A6C34878D82A}">
                    <a16:rowId xmlns:a16="http://schemas.microsoft.com/office/drawing/2014/main" val="2008755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27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E8B8-0FF5-C411-CE6F-F4F562A80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and 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7D77-8618-6E67-DB19-A5F27B1E6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Company authorization obtained for system investigation</a:t>
            </a:r>
          </a:p>
          <a:p>
            <a:r>
              <a:rPr lang="en-US" dirty="0">
                <a:solidFill>
                  <a:schemeClr val="tx1"/>
                </a:solidFill>
              </a:rPr>
              <a:t>Evidence integrity ensured with verified hash values</a:t>
            </a:r>
          </a:p>
          <a:p>
            <a:r>
              <a:rPr lang="en-US" dirty="0">
                <a:solidFill>
                  <a:schemeClr val="tx1"/>
                </a:solidFill>
              </a:rPr>
              <a:t>Chain-of-custody maintained throughout analysis</a:t>
            </a:r>
          </a:p>
          <a:p>
            <a:r>
              <a:rPr lang="en-US" dirty="0">
                <a:solidFill>
                  <a:schemeClr val="tx1"/>
                </a:solidFill>
              </a:rPr>
              <a:t>Sensitive and personal data handled with confidentiality</a:t>
            </a:r>
          </a:p>
          <a:p>
            <a:r>
              <a:rPr lang="en-US" dirty="0">
                <a:solidFill>
                  <a:schemeClr val="tx1"/>
                </a:solidFill>
              </a:rPr>
              <a:t>Followed ACPO and ISO 27037 guidelines</a:t>
            </a:r>
          </a:p>
          <a:p>
            <a:r>
              <a:rPr lang="en-US" dirty="0">
                <a:solidFill>
                  <a:schemeClr val="tx1"/>
                </a:solidFill>
              </a:rPr>
              <a:t>Findings presented objectively and without bias</a:t>
            </a:r>
          </a:p>
        </p:txBody>
      </p:sp>
    </p:spTree>
    <p:extLst>
      <p:ext uri="{BB962C8B-B14F-4D97-AF65-F5344CB8AC3E}">
        <p14:creationId xmlns:p14="http://schemas.microsoft.com/office/powerpoint/2010/main" val="2394144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EAC0-A6A3-AE18-B691-51650273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63E18-1008-DF0A-8693-56AAC1E76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Jo Smith intentionally copied confidential files to a USB device</a:t>
            </a:r>
          </a:p>
          <a:p>
            <a:r>
              <a:rPr lang="en-US" dirty="0">
                <a:solidFill>
                  <a:schemeClr val="tx1"/>
                </a:solidFill>
              </a:rPr>
              <a:t>Later transmitted files to greenpowertech.com through encrypted network session</a:t>
            </a:r>
          </a:p>
          <a:p>
            <a:r>
              <a:rPr lang="en-US" dirty="0">
                <a:solidFill>
                  <a:schemeClr val="tx1"/>
                </a:solidFill>
              </a:rPr>
              <a:t>File hashes matched leaked patents found online</a:t>
            </a:r>
          </a:p>
          <a:p>
            <a:r>
              <a:rPr lang="en-US" dirty="0">
                <a:solidFill>
                  <a:schemeClr val="tx1"/>
                </a:solidFill>
              </a:rPr>
              <a:t>Timestamps from disk, memory, and network aligned</a:t>
            </a:r>
          </a:p>
          <a:p>
            <a:r>
              <a:rPr lang="en-US" dirty="0">
                <a:solidFill>
                  <a:schemeClr val="tx1"/>
                </a:solidFill>
              </a:rPr>
              <a:t>Data leak confirmed as insider exfiltration event</a:t>
            </a:r>
          </a:p>
        </p:txBody>
      </p:sp>
    </p:spTree>
    <p:extLst>
      <p:ext uri="{BB962C8B-B14F-4D97-AF65-F5344CB8AC3E}">
        <p14:creationId xmlns:p14="http://schemas.microsoft.com/office/powerpoint/2010/main" val="423706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367B5-48D1-F04C-C49E-861844A6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4F581-CEE4-5AD4-6639-1879F1ADE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Implement Data Loss Prevention (DLP) solutions</a:t>
            </a:r>
          </a:p>
          <a:p>
            <a:r>
              <a:rPr lang="en-US" dirty="0">
                <a:solidFill>
                  <a:schemeClr val="tx1"/>
                </a:solidFill>
              </a:rPr>
              <a:t>Restrict and monitor USB device usage</a:t>
            </a:r>
          </a:p>
          <a:p>
            <a:r>
              <a:rPr lang="en-US" dirty="0">
                <a:solidFill>
                  <a:schemeClr val="tx1"/>
                </a:solidFill>
              </a:rPr>
              <a:t>Enable real-time network traffic monitoring</a:t>
            </a:r>
          </a:p>
          <a:p>
            <a:r>
              <a:rPr lang="en-US" dirty="0">
                <a:solidFill>
                  <a:schemeClr val="tx1"/>
                </a:solidFill>
              </a:rPr>
              <a:t>Review and tighten employee offboarding procedures</a:t>
            </a:r>
          </a:p>
          <a:p>
            <a:r>
              <a:rPr lang="en-US" dirty="0">
                <a:solidFill>
                  <a:schemeClr val="tx1"/>
                </a:solidFill>
              </a:rPr>
              <a:t>Conduct regular forensic readiness and incident response training</a:t>
            </a:r>
          </a:p>
        </p:txBody>
      </p:sp>
    </p:spTree>
    <p:extLst>
      <p:ext uri="{BB962C8B-B14F-4D97-AF65-F5344CB8AC3E}">
        <p14:creationId xmlns:p14="http://schemas.microsoft.com/office/powerpoint/2010/main" val="237071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9349-F3E4-783F-07D0-5C6BD42E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5B1C8-8D03-BB6A-0E54-C65F53A54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Gained hands-on experience with forensic imaging and analysis tools</a:t>
            </a:r>
          </a:p>
          <a:p>
            <a:r>
              <a:rPr lang="en-US" dirty="0">
                <a:solidFill>
                  <a:schemeClr val="tx1"/>
                </a:solidFill>
              </a:rPr>
              <a:t>Learned to correlate evidence across disk, memory, and network sources</a:t>
            </a:r>
          </a:p>
          <a:p>
            <a:r>
              <a:rPr lang="en-US" dirty="0">
                <a:solidFill>
                  <a:schemeClr val="tx1"/>
                </a:solidFill>
              </a:rPr>
              <a:t>Enhanced understanding of chain-of-custody and evidence integrity</a:t>
            </a:r>
          </a:p>
          <a:p>
            <a:r>
              <a:rPr lang="en-US" dirty="0">
                <a:solidFill>
                  <a:schemeClr val="tx1"/>
                </a:solidFill>
              </a:rPr>
              <a:t>Faced challenges with memory interpretation and timeline synchronization</a:t>
            </a:r>
          </a:p>
          <a:p>
            <a:r>
              <a:rPr lang="en-US" dirty="0">
                <a:solidFill>
                  <a:schemeClr val="tx1"/>
                </a:solidFill>
              </a:rPr>
              <a:t>Improved technical and ethical decision-making in digital investigations</a:t>
            </a:r>
          </a:p>
        </p:txBody>
      </p:sp>
    </p:spTree>
    <p:extLst>
      <p:ext uri="{BB962C8B-B14F-4D97-AF65-F5344CB8AC3E}">
        <p14:creationId xmlns:p14="http://schemas.microsoft.com/office/powerpoint/2010/main" val="131585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5994-0AE5-8D4A-844E-376B64807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E9AB4-A8EC-FBE1-E0D9-060A242E9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NIST (2020). Guide to Integrating Forensic Techniques into Incident Response.</a:t>
            </a:r>
          </a:p>
          <a:p>
            <a:r>
              <a:rPr lang="en-US" dirty="0">
                <a:solidFill>
                  <a:schemeClr val="tx1"/>
                </a:solidFill>
              </a:rPr>
              <a:t>ACPO (2012). Good Practice Guide for Digital Evidence.</a:t>
            </a:r>
          </a:p>
          <a:p>
            <a:r>
              <a:rPr lang="en-US" dirty="0">
                <a:solidFill>
                  <a:schemeClr val="tx1"/>
                </a:solidFill>
              </a:rPr>
              <a:t>Casey, E. (2019). Digital Evidence and Computer Crime.</a:t>
            </a:r>
          </a:p>
          <a:p>
            <a:r>
              <a:rPr lang="en-US" dirty="0">
                <a:solidFill>
                  <a:schemeClr val="tx1"/>
                </a:solidFill>
              </a:rPr>
              <a:t>Volatility Foundation (2023).Wireshark Documentation (2024).</a:t>
            </a:r>
          </a:p>
        </p:txBody>
      </p:sp>
    </p:spTree>
    <p:extLst>
      <p:ext uri="{BB962C8B-B14F-4D97-AF65-F5344CB8AC3E}">
        <p14:creationId xmlns:p14="http://schemas.microsoft.com/office/powerpoint/2010/main" val="167281763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47</TotalTime>
  <Words>574</Words>
  <Application>Microsoft Office PowerPoint</Application>
  <PresentationFormat>Widescreen</PresentationFormat>
  <Paragraphs>89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Century Gothic</vt:lpstr>
      <vt:lpstr>Wingdings 3</vt:lpstr>
      <vt:lpstr>Slice</vt:lpstr>
      <vt:lpstr>M57 Patents Data Leakage Investigation</vt:lpstr>
      <vt:lpstr>Case Overview</vt:lpstr>
      <vt:lpstr>Evidence Handling &amp; Integrity Verification</vt:lpstr>
      <vt:lpstr>Disk Forensic Findings</vt:lpstr>
      <vt:lpstr>Memory Forensic Findings</vt:lpstr>
      <vt:lpstr>Network &amp; Threat Correlation Analysis</vt:lpstr>
      <vt:lpstr>Timeline Reconstruction</vt:lpstr>
      <vt:lpstr>Legal and Ethical Considerations</vt:lpstr>
      <vt:lpstr>Conclusions</vt:lpstr>
      <vt:lpstr>Recommendations</vt:lpstr>
      <vt:lpstr>Reflection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Alisha Sh</dc:creator>
  <cp:lastModifiedBy>Alisha Sh</cp:lastModifiedBy>
  <cp:revision>5</cp:revision>
  <dcterms:created xsi:type="dcterms:W3CDTF">2025-11-11T17:50:53Z</dcterms:created>
  <dcterms:modified xsi:type="dcterms:W3CDTF">2025-11-11T18:50:25Z</dcterms:modified>
</cp:coreProperties>
</file>