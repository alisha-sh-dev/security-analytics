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9" d="100"/>
          <a:sy n="39" d="100"/>
        </p:scale>
        <p:origin x="60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90DC6-5CB3-4E27-9DAC-BD823A5395D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CA103-A1CC-4445-B9A4-02923BB543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4389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90DC6-5CB3-4E27-9DAC-BD823A5395D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CA103-A1CC-4445-B9A4-02923BB543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23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90DC6-5CB3-4E27-9DAC-BD823A5395D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CA103-A1CC-4445-B9A4-02923BB543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2350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90DC6-5CB3-4E27-9DAC-BD823A5395D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CA103-A1CC-4445-B9A4-02923BB543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173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90DC6-5CB3-4E27-9DAC-BD823A5395D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CA103-A1CC-4445-B9A4-02923BB54397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627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90DC6-5CB3-4E27-9DAC-BD823A5395D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CA103-A1CC-4445-B9A4-02923BB543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700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90DC6-5CB3-4E27-9DAC-BD823A5395D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CA103-A1CC-4445-B9A4-02923BB543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041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90DC6-5CB3-4E27-9DAC-BD823A5395D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CA103-A1CC-4445-B9A4-02923BB543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3338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8D690DC6-5CB3-4E27-9DAC-BD823A5395D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CA103-A1CC-4445-B9A4-02923BB543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912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90DC6-5CB3-4E27-9DAC-BD823A5395D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CA103-A1CC-4445-B9A4-02923BB543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001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90DC6-5CB3-4E27-9DAC-BD823A5395D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CA103-A1CC-4445-B9A4-02923BB543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786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8D690DC6-5CB3-4E27-9DAC-BD823A5395D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DAFCA103-A1CC-4445-B9A4-02923BB543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790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tm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8000"/>
                    </a14:imgEffect>
                    <a14:imgEffect>
                      <a14:brightnessContrast bright="-16000" contrast="-6000"/>
                    </a14:imgEffect>
                  </a14:imgLayer>
                </a14:imgProps>
              </a:ext>
            </a:extLst>
          </a:blip>
          <a:srcRect/>
          <a:stretch>
            <a:fillRect l="-8000" r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A5650-D3A3-7364-003B-551175C772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M57 Patents Case – Forensic Investigation Report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1BFDF0-64F0-C708-3002-6F55BE802B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4" y="4212772"/>
            <a:ext cx="6801612" cy="669472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Student Name: </a:t>
            </a:r>
          </a:p>
        </p:txBody>
      </p:sp>
    </p:spTree>
    <p:extLst>
      <p:ext uri="{BB962C8B-B14F-4D97-AF65-F5344CB8AC3E}">
        <p14:creationId xmlns:p14="http://schemas.microsoft.com/office/powerpoint/2010/main" val="882379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81613-BB44-F7A7-E90C-B4C2E5169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6BC8AE-E163-7AE0-D1FC-1A27C7408F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Investigation conducted on Jo Smith’s workstation (Jo-PC)</a:t>
            </a:r>
          </a:p>
          <a:p>
            <a:r>
              <a:rPr lang="en-US" b="1" dirty="0"/>
              <a:t>Objective: </a:t>
            </a:r>
            <a:r>
              <a:rPr lang="en-US" dirty="0"/>
              <a:t>Identify potential data exfiltration and insider theft</a:t>
            </a:r>
          </a:p>
          <a:p>
            <a:r>
              <a:rPr lang="en-US" dirty="0"/>
              <a:t>Evidence acquired: Disk image, Memory dump, Network capture</a:t>
            </a:r>
          </a:p>
          <a:p>
            <a:r>
              <a:rPr lang="en-US" dirty="0"/>
              <a:t>Findings confirm deliberate transfer of confidential patent files</a:t>
            </a:r>
          </a:p>
        </p:txBody>
      </p:sp>
    </p:spTree>
    <p:extLst>
      <p:ext uri="{BB962C8B-B14F-4D97-AF65-F5344CB8AC3E}">
        <p14:creationId xmlns:p14="http://schemas.microsoft.com/office/powerpoint/2010/main" val="3159744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4BF2C-836F-FB2F-8BA7-5EA49164E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Investigation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03D6A3-495D-9FB8-95A1-EAB4C3871E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Examine disk and memory images for evidence of IP theft</a:t>
            </a:r>
          </a:p>
          <a:p>
            <a:r>
              <a:rPr lang="en-US" dirty="0"/>
              <a:t>Identify exfiltration techniques and related artifacts</a:t>
            </a:r>
          </a:p>
          <a:p>
            <a:r>
              <a:rPr lang="en-US" dirty="0"/>
              <a:t>Correlate evidence from multiple sources</a:t>
            </a:r>
          </a:p>
          <a:p>
            <a:r>
              <a:rPr lang="en-US" dirty="0"/>
              <a:t>Maintain forensic integrity and legal compliance throughout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8B1720-E40E-AC18-C20D-5B7BF1D4D0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100" t="12143" r="10542" b="7142"/>
          <a:stretch>
            <a:fillRect/>
          </a:stretch>
        </p:blipFill>
        <p:spPr>
          <a:xfrm>
            <a:off x="8524233" y="4183158"/>
            <a:ext cx="3667767" cy="257947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502504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ADEEB-80BD-BFA4-2986-B8E1DA51E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Evidence Overview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FB9B5DC-467D-CD21-E959-CC9D705426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8972139"/>
              </p:ext>
            </p:extLst>
          </p:nvPr>
        </p:nvGraphicFramePr>
        <p:xfrm>
          <a:off x="571500" y="2334986"/>
          <a:ext cx="11136084" cy="4310743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1248009">
                  <a:extLst>
                    <a:ext uri="{9D8B030D-6E8A-4147-A177-3AD203B41FA5}">
                      <a16:colId xmlns:a16="http://schemas.microsoft.com/office/drawing/2014/main" val="2571790294"/>
                    </a:ext>
                  </a:extLst>
                </a:gridCol>
                <a:gridCol w="1728012">
                  <a:extLst>
                    <a:ext uri="{9D8B030D-6E8A-4147-A177-3AD203B41FA5}">
                      <a16:colId xmlns:a16="http://schemas.microsoft.com/office/drawing/2014/main" val="3253266227"/>
                    </a:ext>
                  </a:extLst>
                </a:gridCol>
                <a:gridCol w="2729620">
                  <a:extLst>
                    <a:ext uri="{9D8B030D-6E8A-4147-A177-3AD203B41FA5}">
                      <a16:colId xmlns:a16="http://schemas.microsoft.com/office/drawing/2014/main" val="4232362402"/>
                    </a:ext>
                  </a:extLst>
                </a:gridCol>
                <a:gridCol w="3222426">
                  <a:extLst>
                    <a:ext uri="{9D8B030D-6E8A-4147-A177-3AD203B41FA5}">
                      <a16:colId xmlns:a16="http://schemas.microsoft.com/office/drawing/2014/main" val="1998211305"/>
                    </a:ext>
                  </a:extLst>
                </a:gridCol>
                <a:gridCol w="2208017">
                  <a:extLst>
                    <a:ext uri="{9D8B030D-6E8A-4147-A177-3AD203B41FA5}">
                      <a16:colId xmlns:a16="http://schemas.microsoft.com/office/drawing/2014/main" val="1307710687"/>
                    </a:ext>
                  </a:extLst>
                </a:gridCol>
              </a:tblGrid>
              <a:tr h="74939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Evidence Type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File Name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MD5 Hash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SHA-1 Hash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Verification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94992893"/>
                  </a:ext>
                </a:extLst>
              </a:tr>
              <a:tr h="104345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Workstation Disk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Jo.E01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4ff309201c91db97029531b1b408fac9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7da76fc19f7455d8fb3bfd9957cb8412ba71f3e6</a:t>
                      </a: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</a:rPr>
                        <a:t>✅ Verified</a:t>
                      </a:r>
                      <a:endParaRPr lang="en-US" sz="20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69368646"/>
                  </a:ext>
                </a:extLst>
              </a:tr>
              <a:tr h="125894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Memory Dump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jo-2009-12-10.winddramimage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b2344dd7149c11468b2145a016d5189e</a:t>
                      </a: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307d4361064d3a415e12ff37a39ae7368b551d9d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✅ Verified</a:t>
                      </a:r>
                      <a:endParaRPr lang="en-US" sz="2000" kern="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6944885"/>
                  </a:ext>
                </a:extLst>
              </a:tr>
              <a:tr h="125894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USB Drive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jo-work-usb-2009-12-11.E01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8f23279deb398c3245829a98bc8fc1bd</a:t>
                      </a: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9a2933b2391e5994745710ab317c702b82a9b141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✅ Verified</a:t>
                      </a:r>
                      <a:endParaRPr lang="en-US" sz="2000" kern="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368069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25999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B8227-173C-218F-9914-B01CC2B39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9265" y="464014"/>
            <a:ext cx="4486656" cy="1141497"/>
          </a:xfrm>
        </p:spPr>
        <p:txBody>
          <a:bodyPr/>
          <a:lstStyle/>
          <a:p>
            <a:r>
              <a:rPr lang="en-US" dirty="0"/>
              <a:t>Evidence Handling &amp; Integrity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C7BE8E-3852-2BF6-2AFE-FB2DB0DAFE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9265" y="1763487"/>
            <a:ext cx="4486656" cy="4289841"/>
          </a:xfrm>
        </p:spPr>
        <p:txBody>
          <a:bodyPr>
            <a:normAutofit/>
          </a:bodyPr>
          <a:lstStyle/>
          <a:p>
            <a: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Chain of custody documented throughout acquisition</a:t>
            </a:r>
          </a:p>
          <a:p>
            <a: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MD5 and SHA1 hashes verified for all evidence files</a:t>
            </a:r>
          </a:p>
          <a:p>
            <a: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No modification to original data sources</a:t>
            </a:r>
          </a:p>
          <a:p>
            <a: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Stored and analyzed in read-only forensic environment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B397B5-E935-80F5-C46F-9B4476D0FE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163" t="20183" r="14381" b="26983"/>
          <a:stretch>
            <a:fillRect/>
          </a:stretch>
        </p:blipFill>
        <p:spPr>
          <a:xfrm>
            <a:off x="6854335" y="0"/>
            <a:ext cx="4668194" cy="20410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8244715-CCDF-5FBA-4403-0ECF02200F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845" t="21881" r="30663" b="43826"/>
          <a:stretch>
            <a:fillRect/>
          </a:stretch>
        </p:blipFill>
        <p:spPr>
          <a:xfrm>
            <a:off x="6854335" y="2041072"/>
            <a:ext cx="4668194" cy="218398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06528BD-D2C3-4A8E-CD78-AD514470D4F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03" t="20685" r="30312" b="25517"/>
          <a:stretch>
            <a:fillRect/>
          </a:stretch>
        </p:blipFill>
        <p:spPr>
          <a:xfrm>
            <a:off x="6854335" y="4165630"/>
            <a:ext cx="4668194" cy="2619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3766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FB72F-6894-44FB-D722-472F702A6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587827"/>
            <a:ext cx="7729728" cy="1188720"/>
          </a:xfrm>
        </p:spPr>
        <p:txBody>
          <a:bodyPr/>
          <a:lstStyle/>
          <a:p>
            <a:r>
              <a:rPr lang="en-US" dirty="0"/>
              <a:t>Disk Analysis (Autopsy Results)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957EBB-31CE-B8D7-802B-053E4DB1F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171922"/>
            <a:ext cx="7729728" cy="3101983"/>
          </a:xfrm>
        </p:spPr>
        <p:txBody>
          <a:bodyPr/>
          <a:lstStyle/>
          <a:p>
            <a:r>
              <a:rPr lang="en-US" dirty="0"/>
              <a:t>Sensitive files found in user directories (Desktop, Documents)</a:t>
            </a:r>
          </a:p>
          <a:p>
            <a:r>
              <a:rPr lang="en-US" dirty="0"/>
              <a:t>Traces of deleted patent-related documents recovered</a:t>
            </a:r>
          </a:p>
          <a:p>
            <a:r>
              <a:rPr lang="en-US" dirty="0"/>
              <a:t>Installation of TrueCrypt encryption software detected</a:t>
            </a:r>
          </a:p>
          <a:p>
            <a:r>
              <a:rPr lang="en-US" dirty="0"/>
              <a:t>Frequent USB device connections (Imation USB confirmed)</a:t>
            </a:r>
          </a:p>
          <a:p>
            <a:r>
              <a:rPr lang="en-US" dirty="0"/>
              <a:t>Recycle Bin contained remnants of deleted patent data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075348-09F6-96CA-9085-2EF2A60840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800" y="4444637"/>
            <a:ext cx="4784271" cy="24492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E49C049-BB05-F0FB-8F89-2C476CC0D5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2971" y="4408714"/>
            <a:ext cx="5944115" cy="2449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1276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9B169-F3CC-707A-1842-4A2FBA7DC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Disk Evidence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96D7F28-0442-2266-3AC8-6173380B53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6896975"/>
              </p:ext>
            </p:extLst>
          </p:nvPr>
        </p:nvGraphicFramePr>
        <p:xfrm>
          <a:off x="865414" y="2579914"/>
          <a:ext cx="10488384" cy="3624945"/>
        </p:xfrm>
        <a:graphic>
          <a:graphicData uri="http://schemas.openxmlformats.org/drawingml/2006/table">
            <a:tbl>
              <a:tblPr firstRow="1">
                <a:tableStyleId>{073A0DAA-6AF3-43AB-8588-CEC1D06C72B9}</a:tableStyleId>
              </a:tblPr>
              <a:tblGrid>
                <a:gridCol w="3496128">
                  <a:extLst>
                    <a:ext uri="{9D8B030D-6E8A-4147-A177-3AD203B41FA5}">
                      <a16:colId xmlns:a16="http://schemas.microsoft.com/office/drawing/2014/main" val="1410836246"/>
                    </a:ext>
                  </a:extLst>
                </a:gridCol>
                <a:gridCol w="3496128">
                  <a:extLst>
                    <a:ext uri="{9D8B030D-6E8A-4147-A177-3AD203B41FA5}">
                      <a16:colId xmlns:a16="http://schemas.microsoft.com/office/drawing/2014/main" val="172454082"/>
                    </a:ext>
                  </a:extLst>
                </a:gridCol>
                <a:gridCol w="3496128">
                  <a:extLst>
                    <a:ext uri="{9D8B030D-6E8A-4147-A177-3AD203B41FA5}">
                      <a16:colId xmlns:a16="http://schemas.microsoft.com/office/drawing/2014/main" val="2996151484"/>
                    </a:ext>
                  </a:extLst>
                </a:gridCol>
              </a:tblGrid>
              <a:tr h="7249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File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Path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Observation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1214023"/>
                  </a:ext>
                </a:extLst>
              </a:tr>
              <a:tr h="7249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patentauto.py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Desktop/web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Patent automation code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3738499"/>
                  </a:ext>
                </a:extLst>
              </a:tr>
              <a:tr h="7249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TrueCrypt Setup.exe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Downloads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Used for data encryption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9213039"/>
                  </a:ext>
                </a:extLst>
              </a:tr>
              <a:tr h="7249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setupapi.log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C:/Windows/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Confirms USB connections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275824"/>
                  </a:ext>
                </a:extLst>
              </a:tr>
              <a:tr h="7249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recentdocs.xml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AppData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Lists patent documents accessed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63854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53945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C6967-3960-01E5-F46A-D6133A81E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Analysis (Volatility Results)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8575E-3EE5-891F-2677-78E17F8EEB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Operating System: Windows XP SP3</a:t>
            </a:r>
          </a:p>
          <a:p>
            <a:r>
              <a:rPr lang="en-US" dirty="0"/>
              <a:t>Suspicious processes: jo.exe, TrueCrypt.exe, cmd.exe</a:t>
            </a:r>
          </a:p>
          <a:p>
            <a:r>
              <a:rPr lang="en-US" dirty="0"/>
              <a:t>Network connections linked to external IP (192.168.1.1)</a:t>
            </a:r>
          </a:p>
          <a:p>
            <a:r>
              <a:rPr lang="en-US" dirty="0"/>
              <a:t>Evidence of live encryption and data manipulation in RAM</a:t>
            </a:r>
          </a:p>
          <a:p>
            <a:r>
              <a:rPr lang="en-US" dirty="0"/>
              <a:t>Artefacts show user activity aligning with disk timestamps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009BEE-A731-8C4E-CBF8-2497062719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67630"/>
            <a:ext cx="5944115" cy="19447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B6635D0-C5B5-0C4F-843D-90854D6142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7885" y="4740195"/>
            <a:ext cx="5944115" cy="1999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8646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08B60-AD8F-13A5-0EAF-83A367DC5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Timeline of Events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92FE8CD-5995-437B-8352-80516F1C29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2189609"/>
              </p:ext>
            </p:extLst>
          </p:nvPr>
        </p:nvGraphicFramePr>
        <p:xfrm>
          <a:off x="767443" y="2481942"/>
          <a:ext cx="10972800" cy="3804558"/>
        </p:xfrm>
        <a:graphic>
          <a:graphicData uri="http://schemas.openxmlformats.org/drawingml/2006/table">
            <a:tbl>
              <a:tblPr firstRow="1">
                <a:tableStyleId>{073A0DAA-6AF3-43AB-8588-CEC1D06C72B9}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3915708005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95917363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849817134"/>
                    </a:ext>
                  </a:extLst>
                </a:gridCol>
              </a:tblGrid>
              <a:tr h="6340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Activity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Evidence Source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041618"/>
                  </a:ext>
                </a:extLst>
              </a:tr>
              <a:tr h="6340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04-Dec-2009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Installed TrueCrypt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Disk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2046919"/>
                  </a:ext>
                </a:extLst>
              </a:tr>
              <a:tr h="6340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08-Dec-2009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Accessed patent files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Disk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427421"/>
                  </a:ext>
                </a:extLst>
              </a:tr>
              <a:tr h="6340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10-Dec-2009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USB connected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setupapi.log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5493148"/>
                  </a:ext>
                </a:extLst>
              </a:tr>
              <a:tr h="6340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10-Dec-2009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Encrypted data via jo.exe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Memory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4394658"/>
                  </a:ext>
                </a:extLst>
              </a:tr>
              <a:tr h="6340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10-Dec-2009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Data sent externally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Network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92784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29603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E71D4-A020-F972-6864-D5D972E08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329" y="349714"/>
            <a:ext cx="4486656" cy="1141497"/>
          </a:xfrm>
        </p:spPr>
        <p:txBody>
          <a:bodyPr>
            <a:normAutofit/>
          </a:bodyPr>
          <a:lstStyle/>
          <a:p>
            <a:r>
              <a:rPr lang="en-US" dirty="0"/>
              <a:t>Network Analysis (Wireshark)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A0987F-8324-945A-616E-44CE6EC8BB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7329" y="1796143"/>
            <a:ext cx="4486656" cy="3947811"/>
          </a:xfrm>
        </p:spPr>
        <p:txBody>
          <a:bodyPr>
            <a:normAutofit/>
          </a:bodyPr>
          <a:lstStyle/>
          <a:p>
            <a: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Outbound HTTP POST requests to unknown Ips</a:t>
            </a:r>
          </a:p>
          <a:p>
            <a: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Encrypted SMTP (TLS) sessions identified</a:t>
            </a:r>
          </a:p>
          <a:p>
            <a: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DNS lookups for suspicious domains detected</a:t>
            </a:r>
          </a:p>
          <a:p>
            <a: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Large data transmission between 09–10 December</a:t>
            </a:r>
          </a:p>
          <a:p>
            <a: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Indicators of intentional exfiltration via web and email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9FE381-D526-89AC-2194-CB242FCA50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736577"/>
            <a:ext cx="6096000" cy="31214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1ABC7DD-4927-D89C-08BD-970C5B1775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417274"/>
            <a:ext cx="6096000" cy="14082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226E785-4F09-AC5D-8124-FC87180DB79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7942"/>
          <a:stretch>
            <a:fillRect/>
          </a:stretch>
        </p:blipFill>
        <p:spPr>
          <a:xfrm>
            <a:off x="6096000" y="0"/>
            <a:ext cx="6096000" cy="2417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4976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AF694-4D7C-BD5A-9033-5641D246C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Correlation Summary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5BEC26D-892D-ED48-A1AF-28BDB3FC71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6431169"/>
              </p:ext>
            </p:extLst>
          </p:nvPr>
        </p:nvGraphicFramePr>
        <p:xfrm>
          <a:off x="832756" y="2474900"/>
          <a:ext cx="10526487" cy="3795271"/>
        </p:xfrm>
        <a:graphic>
          <a:graphicData uri="http://schemas.openxmlformats.org/drawingml/2006/table">
            <a:tbl>
              <a:tblPr firstRow="1">
                <a:tableStyleId>{073A0DAA-6AF3-43AB-8588-CEC1D06C72B9}</a:tableStyleId>
              </a:tblPr>
              <a:tblGrid>
                <a:gridCol w="3508829">
                  <a:extLst>
                    <a:ext uri="{9D8B030D-6E8A-4147-A177-3AD203B41FA5}">
                      <a16:colId xmlns:a16="http://schemas.microsoft.com/office/drawing/2014/main" val="966578912"/>
                    </a:ext>
                  </a:extLst>
                </a:gridCol>
                <a:gridCol w="3508829">
                  <a:extLst>
                    <a:ext uri="{9D8B030D-6E8A-4147-A177-3AD203B41FA5}">
                      <a16:colId xmlns:a16="http://schemas.microsoft.com/office/drawing/2014/main" val="3718785026"/>
                    </a:ext>
                  </a:extLst>
                </a:gridCol>
                <a:gridCol w="3508829">
                  <a:extLst>
                    <a:ext uri="{9D8B030D-6E8A-4147-A177-3AD203B41FA5}">
                      <a16:colId xmlns:a16="http://schemas.microsoft.com/office/drawing/2014/main" val="3558242746"/>
                    </a:ext>
                  </a:extLst>
                </a:gridCol>
              </a:tblGrid>
              <a:tr h="6600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Evidence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Findings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Correlation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2291292"/>
                  </a:ext>
                </a:extLst>
              </a:tr>
              <a:tr h="6600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Disk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Patent files, TrueCrypt use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Data staging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5208966"/>
                  </a:ext>
                </a:extLst>
              </a:tr>
              <a:tr h="6600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Memory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jo.exe process, network handles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Active encryption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831926"/>
                  </a:ext>
                </a:extLst>
              </a:tr>
              <a:tr h="6600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Network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HTTP + TLS traffic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Data exfiltration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275060"/>
                  </a:ext>
                </a:extLst>
              </a:tr>
              <a:tr h="11550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Combined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Timeline and user pattern consistent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Insider threat confirmed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91107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02614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DAF8D-4FEA-B95D-2E05-E03119465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Ethical &amp; Legal 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BE5631-9A67-CA3C-9062-A290D7B90E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Analysis conducted under corporate authorization</a:t>
            </a:r>
          </a:p>
          <a:p>
            <a:r>
              <a:rPr lang="en-US" dirty="0"/>
              <a:t>Forensic integrity preserved through verified imaging</a:t>
            </a:r>
          </a:p>
          <a:p>
            <a:r>
              <a:rPr lang="en-US" dirty="0"/>
              <a:t>No privacy breaches beyond investigation scope</a:t>
            </a:r>
          </a:p>
          <a:p>
            <a:r>
              <a:rPr lang="en-US" dirty="0"/>
              <a:t>Findings documented for potential legal proceedings</a:t>
            </a:r>
          </a:p>
        </p:txBody>
      </p:sp>
    </p:spTree>
    <p:extLst>
      <p:ext uri="{BB962C8B-B14F-4D97-AF65-F5344CB8AC3E}">
        <p14:creationId xmlns:p14="http://schemas.microsoft.com/office/powerpoint/2010/main" val="28523330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718BF-4BAA-F59B-2B9A-E07B3F442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0E8E4-DC2F-7A3B-47AB-B4AD79D290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Jo Smith engaged in deliberate intellectual property theft</a:t>
            </a:r>
          </a:p>
          <a:p>
            <a:r>
              <a:rPr lang="en-US" dirty="0"/>
              <a:t>Multiple exfiltration methods confirmed (USB, HTTP, Email)</a:t>
            </a:r>
          </a:p>
          <a:p>
            <a:r>
              <a:rPr lang="en-US" dirty="0"/>
              <a:t>Strong correlation across disk, memory, and network data</a:t>
            </a:r>
          </a:p>
          <a:p>
            <a:r>
              <a:rPr lang="en-US" dirty="0"/>
              <a:t>Evidence admissible under forensic best practices</a:t>
            </a:r>
          </a:p>
        </p:txBody>
      </p:sp>
    </p:spTree>
    <p:extLst>
      <p:ext uri="{BB962C8B-B14F-4D97-AF65-F5344CB8AC3E}">
        <p14:creationId xmlns:p14="http://schemas.microsoft.com/office/powerpoint/2010/main" val="19994468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4863D-B23F-FF46-EBE7-F0E8F798D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8286DF-D73F-CD64-5EBF-A1E2685CE2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Implement strict USB and encryption policy</a:t>
            </a:r>
          </a:p>
          <a:p>
            <a:r>
              <a:rPr lang="en-US" dirty="0"/>
              <a:t>Deploy Data Loss Prevention (DLP) tools</a:t>
            </a:r>
          </a:p>
          <a:p>
            <a:r>
              <a:rPr lang="en-US" dirty="0"/>
              <a:t>Enhance network monitoring and user access control</a:t>
            </a:r>
          </a:p>
          <a:p>
            <a:r>
              <a:rPr lang="en-US" dirty="0"/>
              <a:t>Mandatory forensic awareness training for staff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6CDF34-077D-560B-F37C-8BEEFE802F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5551" y="4539343"/>
            <a:ext cx="3600449" cy="2057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A1A50F6-75F9-C7DA-552F-CE38C8AB85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965" y="4501044"/>
            <a:ext cx="3600449" cy="2095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4328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D85C4-B68C-7FD3-6AFE-AB743F496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 &amp;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74E7D-793E-020E-96AF-8E96DB2639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Tools Used:</a:t>
            </a:r>
            <a:br>
              <a:rPr lang="en-US" dirty="0"/>
            </a:br>
            <a:r>
              <a:rPr lang="en-US" dirty="0"/>
              <a:t>FTK Imager | Autopsy | Volatility | Wireshark</a:t>
            </a:r>
          </a:p>
          <a:p>
            <a:pPr>
              <a:buNone/>
            </a:pPr>
            <a:r>
              <a:rPr lang="en-US" b="1" dirty="0"/>
              <a:t>References: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4232103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57</TotalTime>
  <Words>511</Words>
  <Application>Microsoft Office PowerPoint</Application>
  <PresentationFormat>Widescreen</PresentationFormat>
  <Paragraphs>125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Gill Sans MT</vt:lpstr>
      <vt:lpstr>Parcel</vt:lpstr>
      <vt:lpstr>M57 Patents Case – Forensic Investigation Report</vt:lpstr>
      <vt:lpstr>Executive Summary</vt:lpstr>
      <vt:lpstr>Investigation Objectives</vt:lpstr>
      <vt:lpstr>Evidence Overview</vt:lpstr>
      <vt:lpstr>Evidence Handling &amp; Integrity</vt:lpstr>
      <vt:lpstr>Disk Analysis (Autopsy Results)</vt:lpstr>
      <vt:lpstr>Key Disk Evidence</vt:lpstr>
      <vt:lpstr>Memory Analysis (Volatility Results)</vt:lpstr>
      <vt:lpstr>Timeline of Events</vt:lpstr>
      <vt:lpstr>Network Analysis (Wireshark)</vt:lpstr>
      <vt:lpstr>Correlation Summary</vt:lpstr>
      <vt:lpstr>Ethical &amp; Legal Considerations</vt:lpstr>
      <vt:lpstr>Conclusion</vt:lpstr>
      <vt:lpstr>Recommendations</vt:lpstr>
      <vt:lpstr>References &amp; Tools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Alisha Sh</dc:creator>
  <cp:lastModifiedBy>Alisha Sh</cp:lastModifiedBy>
  <cp:revision>11</cp:revision>
  <dcterms:created xsi:type="dcterms:W3CDTF">2025-11-08T07:36:33Z</dcterms:created>
  <dcterms:modified xsi:type="dcterms:W3CDTF">2025-11-08T08:34:23Z</dcterms:modified>
</cp:coreProperties>
</file>