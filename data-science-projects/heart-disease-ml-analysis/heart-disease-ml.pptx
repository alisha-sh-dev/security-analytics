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721C15-0A75-45E9-88DF-0FF6ADE9D70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ADBA318-67E0-438C-AE34-EEB70E609622}">
      <dgm:prSet/>
      <dgm:spPr/>
      <dgm:t>
        <a:bodyPr/>
        <a:lstStyle/>
        <a:p>
          <a:pPr>
            <a:buNone/>
          </a:pPr>
          <a:r>
            <a:rPr lang="en-GB" b="1" dirty="0"/>
            <a:t>Key Findings Summary:</a:t>
          </a:r>
          <a:endParaRPr lang="en-GB" b="0" i="0" dirty="0"/>
        </a:p>
      </dgm:t>
    </dgm:pt>
    <dgm:pt modelId="{11F886A4-3B4B-4692-AFD5-F1FDA581CF9A}" type="parTrans" cxnId="{3F9FD5B1-C116-4CA5-AFF8-FD16391CCB19}">
      <dgm:prSet/>
      <dgm:spPr/>
      <dgm:t>
        <a:bodyPr/>
        <a:lstStyle/>
        <a:p>
          <a:endParaRPr lang="en-GB"/>
        </a:p>
      </dgm:t>
    </dgm:pt>
    <dgm:pt modelId="{CA3AAA03-0767-4C13-BF85-C2EC488C0BF8}" type="sibTrans" cxnId="{3F9FD5B1-C116-4CA5-AFF8-FD16391CCB19}">
      <dgm:prSet/>
      <dgm:spPr/>
      <dgm:t>
        <a:bodyPr/>
        <a:lstStyle/>
        <a:p>
          <a:endParaRPr lang="en-GB"/>
        </a:p>
      </dgm:t>
    </dgm:pt>
    <dgm:pt modelId="{D8A5608D-D2F4-4191-80E3-50B68340A37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 dirty="0"/>
            <a:t>Cross-sectional data - cannot establish causality</a:t>
          </a:r>
        </a:p>
      </dgm:t>
    </dgm:pt>
    <dgm:pt modelId="{CA0036E3-1E60-4141-A461-509A9264A795}" type="parTrans" cxnId="{B17C8CB6-5D99-4284-BB4E-0C79E9F555DE}">
      <dgm:prSet/>
      <dgm:spPr/>
      <dgm:t>
        <a:bodyPr/>
        <a:lstStyle/>
        <a:p>
          <a:endParaRPr lang="en-GB"/>
        </a:p>
      </dgm:t>
    </dgm:pt>
    <dgm:pt modelId="{2761C722-F3C7-4546-A2C4-FB0E2F64F471}" type="sibTrans" cxnId="{B17C8CB6-5D99-4284-BB4E-0C79E9F555DE}">
      <dgm:prSet/>
      <dgm:spPr/>
      <dgm:t>
        <a:bodyPr/>
        <a:lstStyle/>
        <a:p>
          <a:endParaRPr lang="en-GB"/>
        </a:p>
      </dgm:t>
    </dgm:pt>
    <dgm:pt modelId="{A4CE458F-E297-4D29-9CB4-A0DE96DB823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 dirty="0"/>
            <a:t>No lifestyle factors (diet, smoking, exercise)</a:t>
          </a:r>
        </a:p>
      </dgm:t>
    </dgm:pt>
    <dgm:pt modelId="{17956D38-B8F4-488D-A6EA-F5B4EE83D1D9}" type="parTrans" cxnId="{D977E641-77AA-4D16-81BC-B81633EC7C88}">
      <dgm:prSet/>
      <dgm:spPr/>
      <dgm:t>
        <a:bodyPr/>
        <a:lstStyle/>
        <a:p>
          <a:endParaRPr lang="en-GB"/>
        </a:p>
      </dgm:t>
    </dgm:pt>
    <dgm:pt modelId="{A27A9011-F0FB-48B3-82AA-B030BBCF7400}" type="sibTrans" cxnId="{D977E641-77AA-4D16-81BC-B81633EC7C88}">
      <dgm:prSet/>
      <dgm:spPr/>
      <dgm:t>
        <a:bodyPr/>
        <a:lstStyle/>
        <a:p>
          <a:endParaRPr lang="en-GB"/>
        </a:p>
      </dgm:t>
    </dgm:pt>
    <dgm:pt modelId="{0C85EC00-3836-4205-9F17-2D3A13F2883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 dirty="0"/>
            <a:t>Geographic diversity unknown</a:t>
          </a:r>
        </a:p>
      </dgm:t>
    </dgm:pt>
    <dgm:pt modelId="{131DACF5-2650-419F-AA58-58AC7422D098}" type="parTrans" cxnId="{74FFCAC8-B602-4F99-9D08-E33D588B1760}">
      <dgm:prSet/>
      <dgm:spPr/>
      <dgm:t>
        <a:bodyPr/>
        <a:lstStyle/>
        <a:p>
          <a:endParaRPr lang="en-GB"/>
        </a:p>
      </dgm:t>
    </dgm:pt>
    <dgm:pt modelId="{2F079B65-0802-4690-8CDB-9E8AA69F7E51}" type="sibTrans" cxnId="{74FFCAC8-B602-4F99-9D08-E33D588B1760}">
      <dgm:prSet/>
      <dgm:spPr/>
      <dgm:t>
        <a:bodyPr/>
        <a:lstStyle/>
        <a:p>
          <a:endParaRPr lang="en-GB"/>
        </a:p>
      </dgm:t>
    </dgm:pt>
    <dgm:pt modelId="{F9630ED7-A4C7-4ECA-8288-D639763714E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 dirty="0"/>
            <a:t>Medication history unavailable</a:t>
          </a:r>
        </a:p>
      </dgm:t>
    </dgm:pt>
    <dgm:pt modelId="{A0C76D35-F7CB-4984-8559-EE6B4D149E84}" type="parTrans" cxnId="{7EFBF6AB-9EB5-4FC4-8038-4E3701146082}">
      <dgm:prSet/>
      <dgm:spPr/>
      <dgm:t>
        <a:bodyPr/>
        <a:lstStyle/>
        <a:p>
          <a:endParaRPr lang="en-GB"/>
        </a:p>
      </dgm:t>
    </dgm:pt>
    <dgm:pt modelId="{527FA32B-1684-406E-8811-0BC3D6DA1287}" type="sibTrans" cxnId="{7EFBF6AB-9EB5-4FC4-8038-4E3701146082}">
      <dgm:prSet/>
      <dgm:spPr/>
      <dgm:t>
        <a:bodyPr/>
        <a:lstStyle/>
        <a:p>
          <a:endParaRPr lang="en-GB"/>
        </a:p>
      </dgm:t>
    </dgm:pt>
    <dgm:pt modelId="{AAB26402-6925-4A15-B324-D5543F8FBEC2}">
      <dgm:prSet/>
      <dgm:spPr/>
      <dgm:t>
        <a:bodyPr/>
        <a:lstStyle/>
        <a:p>
          <a:pPr>
            <a:buNone/>
          </a:pPr>
          <a:r>
            <a:rPr lang="en-GB" b="1" i="0" dirty="0"/>
            <a:t>Possible Improvements:</a:t>
          </a:r>
          <a:endParaRPr lang="en-GB" b="0" i="0" dirty="0"/>
        </a:p>
      </dgm:t>
    </dgm:pt>
    <dgm:pt modelId="{23561CDA-12E9-4281-AD92-AABB18BEB300}" type="parTrans" cxnId="{BAD849B7-1A4C-4EE4-8308-5B33EF12F7DB}">
      <dgm:prSet/>
      <dgm:spPr/>
      <dgm:t>
        <a:bodyPr/>
        <a:lstStyle/>
        <a:p>
          <a:endParaRPr lang="en-GB"/>
        </a:p>
      </dgm:t>
    </dgm:pt>
    <dgm:pt modelId="{BDB6A2E5-EF64-4D75-9403-8346E2EECD58}" type="sibTrans" cxnId="{BAD849B7-1A4C-4EE4-8308-5B33EF12F7DB}">
      <dgm:prSet/>
      <dgm:spPr/>
      <dgm:t>
        <a:bodyPr/>
        <a:lstStyle/>
        <a:p>
          <a:endParaRPr lang="en-GB"/>
        </a:p>
      </dgm:t>
    </dgm:pt>
    <dgm:pt modelId="{2E0724E4-F374-46E1-93B8-BFB21DF3A88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 dirty="0"/>
            <a:t>Collect longitudinal data</a:t>
          </a:r>
        </a:p>
      </dgm:t>
    </dgm:pt>
    <dgm:pt modelId="{5D473673-CBF9-4428-A2E5-EAC286189143}" type="parTrans" cxnId="{8C7B7D9F-351B-4470-822A-7E950AE539F2}">
      <dgm:prSet/>
      <dgm:spPr/>
      <dgm:t>
        <a:bodyPr/>
        <a:lstStyle/>
        <a:p>
          <a:endParaRPr lang="en-GB"/>
        </a:p>
      </dgm:t>
    </dgm:pt>
    <dgm:pt modelId="{B88E6190-DC84-49F6-B1A7-E1330E35AE43}" type="sibTrans" cxnId="{8C7B7D9F-351B-4470-822A-7E950AE539F2}">
      <dgm:prSet/>
      <dgm:spPr/>
      <dgm:t>
        <a:bodyPr/>
        <a:lstStyle/>
        <a:p>
          <a:endParaRPr lang="en-GB"/>
        </a:p>
      </dgm:t>
    </dgm:pt>
    <dgm:pt modelId="{95075BA8-F386-40B6-846C-C4CCF683DDD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 dirty="0"/>
            <a:t>Include lifestyle factors</a:t>
          </a:r>
        </a:p>
      </dgm:t>
    </dgm:pt>
    <dgm:pt modelId="{E8676D12-C9CA-4CAD-A585-B5BDA55012C2}" type="parTrans" cxnId="{2A7431DC-B73C-4CD2-A918-1F7000ABCC9E}">
      <dgm:prSet/>
      <dgm:spPr/>
      <dgm:t>
        <a:bodyPr/>
        <a:lstStyle/>
        <a:p>
          <a:endParaRPr lang="en-GB"/>
        </a:p>
      </dgm:t>
    </dgm:pt>
    <dgm:pt modelId="{1E7DC1B5-3FF9-4F63-9C14-7A050D079374}" type="sibTrans" cxnId="{2A7431DC-B73C-4CD2-A918-1F7000ABCC9E}">
      <dgm:prSet/>
      <dgm:spPr/>
      <dgm:t>
        <a:bodyPr/>
        <a:lstStyle/>
        <a:p>
          <a:endParaRPr lang="en-GB"/>
        </a:p>
      </dgm:t>
    </dgm:pt>
    <dgm:pt modelId="{5D4D0C29-FC21-4F26-98C8-B0BDE0418FC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 dirty="0"/>
            <a:t>Apply machine learning for prediction</a:t>
          </a:r>
        </a:p>
      </dgm:t>
    </dgm:pt>
    <dgm:pt modelId="{8C1819D9-130B-4480-ADBA-212E4A6F8B07}" type="parTrans" cxnId="{812118E9-7305-418F-AC6B-9AFEAAA26C45}">
      <dgm:prSet/>
      <dgm:spPr/>
      <dgm:t>
        <a:bodyPr/>
        <a:lstStyle/>
        <a:p>
          <a:endParaRPr lang="en-GB"/>
        </a:p>
      </dgm:t>
    </dgm:pt>
    <dgm:pt modelId="{3EC661A6-61EF-46F2-8A83-2997870C366E}" type="sibTrans" cxnId="{812118E9-7305-418F-AC6B-9AFEAAA26C45}">
      <dgm:prSet/>
      <dgm:spPr/>
      <dgm:t>
        <a:bodyPr/>
        <a:lstStyle/>
        <a:p>
          <a:endParaRPr lang="en-GB"/>
        </a:p>
      </dgm:t>
    </dgm:pt>
    <dgm:pt modelId="{156FF32B-3764-4715-9E54-34EA68A0C688}">
      <dgm:prSet/>
      <dgm:spPr/>
      <dgm:t>
        <a:bodyPr/>
        <a:lstStyle/>
        <a:p>
          <a:pPr>
            <a:buNone/>
          </a:pPr>
          <a:r>
            <a:rPr lang="en-GB" b="1" i="0" dirty="0"/>
            <a:t>Limitations:</a:t>
          </a:r>
          <a:endParaRPr lang="en-GB" b="0" i="0" dirty="0"/>
        </a:p>
      </dgm:t>
    </dgm:pt>
    <dgm:pt modelId="{3C960321-9156-4BA6-84D5-2DF55E950CDA}" type="parTrans" cxnId="{1FA3F6ED-8EF8-4CFF-BBB1-CFDE4FC2AFEF}">
      <dgm:prSet/>
      <dgm:spPr/>
      <dgm:t>
        <a:bodyPr/>
        <a:lstStyle/>
        <a:p>
          <a:endParaRPr lang="en-GB"/>
        </a:p>
      </dgm:t>
    </dgm:pt>
    <dgm:pt modelId="{9972183F-3905-498C-B800-FC0F7C7C60CA}" type="sibTrans" cxnId="{1FA3F6ED-8EF8-4CFF-BBB1-CFDE4FC2AFEF}">
      <dgm:prSet/>
      <dgm:spPr/>
      <dgm:t>
        <a:bodyPr/>
        <a:lstStyle/>
        <a:p>
          <a:endParaRPr lang="en-GB"/>
        </a:p>
      </dgm:t>
    </dgm:pt>
    <dgm:pt modelId="{9B991D45-4AD9-4212-AA17-BA7F96960FED}">
      <dgm:prSet/>
      <dgm:spPr/>
      <dgm:t>
        <a:bodyPr/>
        <a:lstStyle/>
        <a:p>
          <a:pPr>
            <a:buNone/>
          </a:pPr>
          <a:r>
            <a:rPr lang="en-GB" dirty="0"/>
            <a:t>Patients with heart disease are on average 5.35 years older</a:t>
          </a:r>
        </a:p>
      </dgm:t>
    </dgm:pt>
    <dgm:pt modelId="{A87EBDBD-1844-4FBD-A88D-4B1D20270267}" type="parTrans" cxnId="{E78D674D-2F8A-4D5E-8088-875CCBF945ED}">
      <dgm:prSet/>
      <dgm:spPr/>
      <dgm:t>
        <a:bodyPr/>
        <a:lstStyle/>
        <a:p>
          <a:endParaRPr lang="en-GB"/>
        </a:p>
      </dgm:t>
    </dgm:pt>
    <dgm:pt modelId="{F782A150-7485-4D27-BD93-3F6850193D58}" type="sibTrans" cxnId="{E78D674D-2F8A-4D5E-8088-875CCBF945ED}">
      <dgm:prSet/>
      <dgm:spPr/>
      <dgm:t>
        <a:bodyPr/>
        <a:lstStyle/>
        <a:p>
          <a:endParaRPr lang="en-GB"/>
        </a:p>
      </dgm:t>
    </dgm:pt>
    <dgm:pt modelId="{B787E28E-DFF8-4791-BA06-79080FC86FD5}">
      <dgm:prSet/>
      <dgm:spPr/>
      <dgm:t>
        <a:bodyPr/>
        <a:lstStyle/>
        <a:p>
          <a:pPr>
            <a:buNone/>
          </a:pPr>
          <a:r>
            <a:rPr lang="en-GB" dirty="0"/>
            <a:t>Males account for 77% of heart disease cases</a:t>
          </a:r>
        </a:p>
      </dgm:t>
    </dgm:pt>
    <dgm:pt modelId="{88E8C7E0-FFBC-46FA-9DCD-F335885AF4E2}" type="parTrans" cxnId="{7E0D8C07-F087-4F81-9928-B2A2A463CA75}">
      <dgm:prSet/>
      <dgm:spPr/>
      <dgm:t>
        <a:bodyPr/>
        <a:lstStyle/>
        <a:p>
          <a:endParaRPr lang="en-GB"/>
        </a:p>
      </dgm:t>
    </dgm:pt>
    <dgm:pt modelId="{C5ACF516-6418-4147-99EA-DEF55C4F52F2}" type="sibTrans" cxnId="{7E0D8C07-F087-4F81-9928-B2A2A463CA75}">
      <dgm:prSet/>
      <dgm:spPr/>
      <dgm:t>
        <a:bodyPr/>
        <a:lstStyle/>
        <a:p>
          <a:endParaRPr lang="en-GB"/>
        </a:p>
      </dgm:t>
    </dgm:pt>
    <dgm:pt modelId="{7C0F1F49-8F50-4A32-B5CB-6AFF212B211B}">
      <dgm:prSet/>
      <dgm:spPr/>
      <dgm:t>
        <a:bodyPr/>
        <a:lstStyle/>
        <a:p>
          <a:pPr>
            <a:buNone/>
          </a:pPr>
          <a:r>
            <a:rPr lang="en-GB" dirty="0"/>
            <a:t>67.72% of all cases are male patients over 50</a:t>
          </a:r>
        </a:p>
      </dgm:t>
    </dgm:pt>
    <dgm:pt modelId="{752F1A11-77A2-4609-BBBE-5988F80C76AC}" type="parTrans" cxnId="{756BCA53-2F97-4581-9819-786B5FD33AA5}">
      <dgm:prSet/>
      <dgm:spPr/>
      <dgm:t>
        <a:bodyPr/>
        <a:lstStyle/>
        <a:p>
          <a:endParaRPr lang="en-GB"/>
        </a:p>
      </dgm:t>
    </dgm:pt>
    <dgm:pt modelId="{C01C9263-7AF2-4E07-AA73-F4A83CD1A4EA}" type="sibTrans" cxnId="{756BCA53-2F97-4581-9819-786B5FD33AA5}">
      <dgm:prSet/>
      <dgm:spPr/>
      <dgm:t>
        <a:bodyPr/>
        <a:lstStyle/>
        <a:p>
          <a:endParaRPr lang="en-GB"/>
        </a:p>
      </dgm:t>
    </dgm:pt>
    <dgm:pt modelId="{55BD039D-4D2C-4274-A9DD-F993D5CF90BB}">
      <dgm:prSet/>
      <dgm:spPr/>
      <dgm:t>
        <a:bodyPr/>
        <a:lstStyle/>
        <a:p>
          <a:pPr>
            <a:buNone/>
          </a:pPr>
          <a:r>
            <a:rPr lang="en-GB" dirty="0"/>
            <a:t>Asymptomatic chest pain (ASY) occurs in 77% of heart disease patients</a:t>
          </a:r>
        </a:p>
      </dgm:t>
    </dgm:pt>
    <dgm:pt modelId="{2C869699-4B84-4F15-AC60-4390E7832E00}" type="parTrans" cxnId="{9255DBB7-6B25-474E-A827-F5010F792355}">
      <dgm:prSet/>
      <dgm:spPr/>
      <dgm:t>
        <a:bodyPr/>
        <a:lstStyle/>
        <a:p>
          <a:endParaRPr lang="en-GB"/>
        </a:p>
      </dgm:t>
    </dgm:pt>
    <dgm:pt modelId="{E496229D-D469-4950-B30E-DC54A479FD1D}" type="sibTrans" cxnId="{9255DBB7-6B25-474E-A827-F5010F792355}">
      <dgm:prSet/>
      <dgm:spPr/>
      <dgm:t>
        <a:bodyPr/>
        <a:lstStyle/>
        <a:p>
          <a:endParaRPr lang="en-GB"/>
        </a:p>
      </dgm:t>
    </dgm:pt>
    <dgm:pt modelId="{B6ABFC06-4AA1-4E7E-BDF1-3A201C7BC6C7}">
      <dgm:prSet/>
      <dgm:spPr/>
      <dgm:t>
        <a:bodyPr/>
        <a:lstStyle/>
        <a:p>
          <a:pPr>
            <a:buNone/>
          </a:pPr>
          <a:r>
            <a:rPr lang="en-GB" dirty="0"/>
            <a:t>Both genders have elevated blood pressure (~137 mm Hg)</a:t>
          </a:r>
        </a:p>
      </dgm:t>
    </dgm:pt>
    <dgm:pt modelId="{22A5A824-217E-4BD0-9388-7C2EA23C789F}" type="parTrans" cxnId="{CD6E0087-5BED-4950-AB6F-27958C123725}">
      <dgm:prSet/>
      <dgm:spPr/>
      <dgm:t>
        <a:bodyPr/>
        <a:lstStyle/>
        <a:p>
          <a:endParaRPr lang="en-GB"/>
        </a:p>
      </dgm:t>
    </dgm:pt>
    <dgm:pt modelId="{F9B7FA78-5AEE-4825-8969-2770A5ED174B}" type="sibTrans" cxnId="{CD6E0087-5BED-4950-AB6F-27958C123725}">
      <dgm:prSet/>
      <dgm:spPr/>
      <dgm:t>
        <a:bodyPr/>
        <a:lstStyle/>
        <a:p>
          <a:endParaRPr lang="en-GB"/>
        </a:p>
      </dgm:t>
    </dgm:pt>
    <dgm:pt modelId="{E7BF0A31-5FAC-40BC-96DF-1A7C85CBA671}" type="pres">
      <dgm:prSet presAssocID="{CC721C15-0A75-45E9-88DF-0FF6ADE9D70E}" presName="Name0" presStyleCnt="0">
        <dgm:presLayoutVars>
          <dgm:dir/>
          <dgm:animLvl val="lvl"/>
          <dgm:resizeHandles val="exact"/>
        </dgm:presLayoutVars>
      </dgm:prSet>
      <dgm:spPr/>
    </dgm:pt>
    <dgm:pt modelId="{6088EDF1-F291-4DBC-AEC9-E6DCF0FC4FDB}" type="pres">
      <dgm:prSet presAssocID="{6ADBA318-67E0-438C-AE34-EEB70E609622}" presName="composite" presStyleCnt="0"/>
      <dgm:spPr/>
    </dgm:pt>
    <dgm:pt modelId="{A07461B9-EDF1-4F21-AD0F-6A851BFDB5C7}" type="pres">
      <dgm:prSet presAssocID="{6ADBA318-67E0-438C-AE34-EEB70E60962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7C0B5D1-BADA-4B5C-9DBF-F01716EB9AB0}" type="pres">
      <dgm:prSet presAssocID="{6ADBA318-67E0-438C-AE34-EEB70E609622}" presName="desTx" presStyleLbl="alignAccFollowNode1" presStyleIdx="0" presStyleCnt="3">
        <dgm:presLayoutVars>
          <dgm:bulletEnabled val="1"/>
        </dgm:presLayoutVars>
      </dgm:prSet>
      <dgm:spPr/>
    </dgm:pt>
    <dgm:pt modelId="{00E3EC6A-BA09-4625-91ED-9743BFA1980C}" type="pres">
      <dgm:prSet presAssocID="{CA3AAA03-0767-4C13-BF85-C2EC488C0BF8}" presName="space" presStyleCnt="0"/>
      <dgm:spPr/>
    </dgm:pt>
    <dgm:pt modelId="{CE1A76AD-DFB0-4583-9F1D-B691F61C70BB}" type="pres">
      <dgm:prSet presAssocID="{156FF32B-3764-4715-9E54-34EA68A0C688}" presName="composite" presStyleCnt="0"/>
      <dgm:spPr/>
    </dgm:pt>
    <dgm:pt modelId="{236CA7BC-17BD-4A51-A4CD-1F4A2093C031}" type="pres">
      <dgm:prSet presAssocID="{156FF32B-3764-4715-9E54-34EA68A0C68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3001598-59A8-4801-93F3-4A3FC22C2DB7}" type="pres">
      <dgm:prSet presAssocID="{156FF32B-3764-4715-9E54-34EA68A0C688}" presName="desTx" presStyleLbl="alignAccFollowNode1" presStyleIdx="1" presStyleCnt="3">
        <dgm:presLayoutVars>
          <dgm:bulletEnabled val="1"/>
        </dgm:presLayoutVars>
      </dgm:prSet>
      <dgm:spPr/>
    </dgm:pt>
    <dgm:pt modelId="{2FB81A8B-D740-48FB-81F1-1AE50C88F8C6}" type="pres">
      <dgm:prSet presAssocID="{9972183F-3905-498C-B800-FC0F7C7C60CA}" presName="space" presStyleCnt="0"/>
      <dgm:spPr/>
    </dgm:pt>
    <dgm:pt modelId="{8D12A91F-0537-4B0F-B2B4-77439572B44F}" type="pres">
      <dgm:prSet presAssocID="{AAB26402-6925-4A15-B324-D5543F8FBEC2}" presName="composite" presStyleCnt="0"/>
      <dgm:spPr/>
    </dgm:pt>
    <dgm:pt modelId="{AA01A67B-AA62-4035-85CA-5AF21C720BCE}" type="pres">
      <dgm:prSet presAssocID="{AAB26402-6925-4A15-B324-D5543F8FBEC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6D3290B-1C52-482B-9C83-458F5DAFED6E}" type="pres">
      <dgm:prSet presAssocID="{AAB26402-6925-4A15-B324-D5543F8FBEC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9B757D03-CDCE-4009-846A-5442E0C089A2}" type="presOf" srcId="{D8A5608D-D2F4-4191-80E3-50B68340A37E}" destId="{E3001598-59A8-4801-93F3-4A3FC22C2DB7}" srcOrd="0" destOrd="0" presId="urn:microsoft.com/office/officeart/2005/8/layout/hList1"/>
    <dgm:cxn modelId="{7E0D8C07-F087-4F81-9928-B2A2A463CA75}" srcId="{6ADBA318-67E0-438C-AE34-EEB70E609622}" destId="{B787E28E-DFF8-4791-BA06-79080FC86FD5}" srcOrd="1" destOrd="0" parTransId="{88E8C7E0-FFBC-46FA-9DCD-F335885AF4E2}" sibTransId="{C5ACF516-6418-4147-99EA-DEF55C4F52F2}"/>
    <dgm:cxn modelId="{469E300A-2298-4F12-A7C8-F059C8144C7D}" type="presOf" srcId="{F9630ED7-A4C7-4ECA-8288-D639763714E4}" destId="{E3001598-59A8-4801-93F3-4A3FC22C2DB7}" srcOrd="0" destOrd="3" presId="urn:microsoft.com/office/officeart/2005/8/layout/hList1"/>
    <dgm:cxn modelId="{BA3BB636-D60E-4333-A483-61CC0B2B9CBA}" type="presOf" srcId="{2E0724E4-F374-46E1-93B8-BFB21DF3A88B}" destId="{56D3290B-1C52-482B-9C83-458F5DAFED6E}" srcOrd="0" destOrd="0" presId="urn:microsoft.com/office/officeart/2005/8/layout/hList1"/>
    <dgm:cxn modelId="{D977E641-77AA-4D16-81BC-B81633EC7C88}" srcId="{156FF32B-3764-4715-9E54-34EA68A0C688}" destId="{A4CE458F-E297-4D29-9CB4-A0DE96DB823A}" srcOrd="1" destOrd="0" parTransId="{17956D38-B8F4-488D-A6EA-F5B4EE83D1D9}" sibTransId="{A27A9011-F0FB-48B3-82AA-B030BBCF7400}"/>
    <dgm:cxn modelId="{0C83DC4B-E7BB-4D4B-8BD5-9F7563AA7D69}" type="presOf" srcId="{B6ABFC06-4AA1-4E7E-BDF1-3A201C7BC6C7}" destId="{77C0B5D1-BADA-4B5C-9DBF-F01716EB9AB0}" srcOrd="0" destOrd="4" presId="urn:microsoft.com/office/officeart/2005/8/layout/hList1"/>
    <dgm:cxn modelId="{E78D674D-2F8A-4D5E-8088-875CCBF945ED}" srcId="{6ADBA318-67E0-438C-AE34-EEB70E609622}" destId="{9B991D45-4AD9-4212-AA17-BA7F96960FED}" srcOrd="0" destOrd="0" parTransId="{A87EBDBD-1844-4FBD-A88D-4B1D20270267}" sibTransId="{F782A150-7485-4D27-BD93-3F6850193D58}"/>
    <dgm:cxn modelId="{C612C270-77E8-46B0-9181-67A70DA7D131}" type="presOf" srcId="{5D4D0C29-FC21-4F26-98C8-B0BDE0418FC4}" destId="{56D3290B-1C52-482B-9C83-458F5DAFED6E}" srcOrd="0" destOrd="2" presId="urn:microsoft.com/office/officeart/2005/8/layout/hList1"/>
    <dgm:cxn modelId="{1CD3FB51-518B-4A12-B2A8-122137A1ADC1}" type="presOf" srcId="{55BD039D-4D2C-4274-A9DD-F993D5CF90BB}" destId="{77C0B5D1-BADA-4B5C-9DBF-F01716EB9AB0}" srcOrd="0" destOrd="3" presId="urn:microsoft.com/office/officeart/2005/8/layout/hList1"/>
    <dgm:cxn modelId="{756BCA53-2F97-4581-9819-786B5FD33AA5}" srcId="{6ADBA318-67E0-438C-AE34-EEB70E609622}" destId="{7C0F1F49-8F50-4A32-B5CB-6AFF212B211B}" srcOrd="2" destOrd="0" parTransId="{752F1A11-77A2-4609-BBBE-5988F80C76AC}" sibTransId="{C01C9263-7AF2-4E07-AA73-F4A83CD1A4EA}"/>
    <dgm:cxn modelId="{6CB67479-048D-44D3-9396-3AC1B957ABAD}" type="presOf" srcId="{0C85EC00-3836-4205-9F17-2D3A13F2883C}" destId="{E3001598-59A8-4801-93F3-4A3FC22C2DB7}" srcOrd="0" destOrd="2" presId="urn:microsoft.com/office/officeart/2005/8/layout/hList1"/>
    <dgm:cxn modelId="{BFE08E83-D8AF-4760-84E0-899DF5B1E920}" type="presOf" srcId="{A4CE458F-E297-4D29-9CB4-A0DE96DB823A}" destId="{E3001598-59A8-4801-93F3-4A3FC22C2DB7}" srcOrd="0" destOrd="1" presId="urn:microsoft.com/office/officeart/2005/8/layout/hList1"/>
    <dgm:cxn modelId="{9CDC8F84-6EE2-4642-8059-A4066A07FAFF}" type="presOf" srcId="{6ADBA318-67E0-438C-AE34-EEB70E609622}" destId="{A07461B9-EDF1-4F21-AD0F-6A851BFDB5C7}" srcOrd="0" destOrd="0" presId="urn:microsoft.com/office/officeart/2005/8/layout/hList1"/>
    <dgm:cxn modelId="{CD6E0087-5BED-4950-AB6F-27958C123725}" srcId="{6ADBA318-67E0-438C-AE34-EEB70E609622}" destId="{B6ABFC06-4AA1-4E7E-BDF1-3A201C7BC6C7}" srcOrd="4" destOrd="0" parTransId="{22A5A824-217E-4BD0-9388-7C2EA23C789F}" sibTransId="{F9B7FA78-5AEE-4825-8969-2770A5ED174B}"/>
    <dgm:cxn modelId="{8C7B7D9F-351B-4470-822A-7E950AE539F2}" srcId="{AAB26402-6925-4A15-B324-D5543F8FBEC2}" destId="{2E0724E4-F374-46E1-93B8-BFB21DF3A88B}" srcOrd="0" destOrd="0" parTransId="{5D473673-CBF9-4428-A2E5-EAC286189143}" sibTransId="{B88E6190-DC84-49F6-B1A7-E1330E35AE43}"/>
    <dgm:cxn modelId="{5CA4E8A7-4AA2-4295-8109-539288490E68}" type="presOf" srcId="{95075BA8-F386-40B6-846C-C4CCF683DDD8}" destId="{56D3290B-1C52-482B-9C83-458F5DAFED6E}" srcOrd="0" destOrd="1" presId="urn:microsoft.com/office/officeart/2005/8/layout/hList1"/>
    <dgm:cxn modelId="{3EA698A8-69CD-4679-8CBB-8FB511677FF6}" type="presOf" srcId="{7C0F1F49-8F50-4A32-B5CB-6AFF212B211B}" destId="{77C0B5D1-BADA-4B5C-9DBF-F01716EB9AB0}" srcOrd="0" destOrd="2" presId="urn:microsoft.com/office/officeart/2005/8/layout/hList1"/>
    <dgm:cxn modelId="{7EFBF6AB-9EB5-4FC4-8038-4E3701146082}" srcId="{156FF32B-3764-4715-9E54-34EA68A0C688}" destId="{F9630ED7-A4C7-4ECA-8288-D639763714E4}" srcOrd="3" destOrd="0" parTransId="{A0C76D35-F7CB-4984-8559-EE6B4D149E84}" sibTransId="{527FA32B-1684-406E-8811-0BC3D6DA1287}"/>
    <dgm:cxn modelId="{3F9FD5B1-C116-4CA5-AFF8-FD16391CCB19}" srcId="{CC721C15-0A75-45E9-88DF-0FF6ADE9D70E}" destId="{6ADBA318-67E0-438C-AE34-EEB70E609622}" srcOrd="0" destOrd="0" parTransId="{11F886A4-3B4B-4692-AFD5-F1FDA581CF9A}" sibTransId="{CA3AAA03-0767-4C13-BF85-C2EC488C0BF8}"/>
    <dgm:cxn modelId="{B17C8CB6-5D99-4284-BB4E-0C79E9F555DE}" srcId="{156FF32B-3764-4715-9E54-34EA68A0C688}" destId="{D8A5608D-D2F4-4191-80E3-50B68340A37E}" srcOrd="0" destOrd="0" parTransId="{CA0036E3-1E60-4141-A461-509A9264A795}" sibTransId="{2761C722-F3C7-4546-A2C4-FB0E2F64F471}"/>
    <dgm:cxn modelId="{BAD849B7-1A4C-4EE4-8308-5B33EF12F7DB}" srcId="{CC721C15-0A75-45E9-88DF-0FF6ADE9D70E}" destId="{AAB26402-6925-4A15-B324-D5543F8FBEC2}" srcOrd="2" destOrd="0" parTransId="{23561CDA-12E9-4281-AD92-AABB18BEB300}" sibTransId="{BDB6A2E5-EF64-4D75-9403-8346E2EECD58}"/>
    <dgm:cxn modelId="{9255DBB7-6B25-474E-A827-F5010F792355}" srcId="{6ADBA318-67E0-438C-AE34-EEB70E609622}" destId="{55BD039D-4D2C-4274-A9DD-F993D5CF90BB}" srcOrd="3" destOrd="0" parTransId="{2C869699-4B84-4F15-AC60-4390E7832E00}" sibTransId="{E496229D-D469-4950-B30E-DC54A479FD1D}"/>
    <dgm:cxn modelId="{520593C4-2375-4371-9F17-057F504BFED5}" type="presOf" srcId="{156FF32B-3764-4715-9E54-34EA68A0C688}" destId="{236CA7BC-17BD-4A51-A4CD-1F4A2093C031}" srcOrd="0" destOrd="0" presId="urn:microsoft.com/office/officeart/2005/8/layout/hList1"/>
    <dgm:cxn modelId="{74FFCAC8-B602-4F99-9D08-E33D588B1760}" srcId="{156FF32B-3764-4715-9E54-34EA68A0C688}" destId="{0C85EC00-3836-4205-9F17-2D3A13F2883C}" srcOrd="2" destOrd="0" parTransId="{131DACF5-2650-419F-AA58-58AC7422D098}" sibTransId="{2F079B65-0802-4690-8CDB-9E8AA69F7E51}"/>
    <dgm:cxn modelId="{AF6B25D8-4CBF-4D83-990A-B9124E943C97}" type="presOf" srcId="{CC721C15-0A75-45E9-88DF-0FF6ADE9D70E}" destId="{E7BF0A31-5FAC-40BC-96DF-1A7C85CBA671}" srcOrd="0" destOrd="0" presId="urn:microsoft.com/office/officeart/2005/8/layout/hList1"/>
    <dgm:cxn modelId="{2A7431DC-B73C-4CD2-A918-1F7000ABCC9E}" srcId="{AAB26402-6925-4A15-B324-D5543F8FBEC2}" destId="{95075BA8-F386-40B6-846C-C4CCF683DDD8}" srcOrd="1" destOrd="0" parTransId="{E8676D12-C9CA-4CAD-A585-B5BDA55012C2}" sibTransId="{1E7DC1B5-3FF9-4F63-9C14-7A050D079374}"/>
    <dgm:cxn modelId="{670EBDDD-9FB2-4E30-BF5D-DAD58AED1CBB}" type="presOf" srcId="{B787E28E-DFF8-4791-BA06-79080FC86FD5}" destId="{77C0B5D1-BADA-4B5C-9DBF-F01716EB9AB0}" srcOrd="0" destOrd="1" presId="urn:microsoft.com/office/officeart/2005/8/layout/hList1"/>
    <dgm:cxn modelId="{812118E9-7305-418F-AC6B-9AFEAAA26C45}" srcId="{AAB26402-6925-4A15-B324-D5543F8FBEC2}" destId="{5D4D0C29-FC21-4F26-98C8-B0BDE0418FC4}" srcOrd="2" destOrd="0" parTransId="{8C1819D9-130B-4480-ADBA-212E4A6F8B07}" sibTransId="{3EC661A6-61EF-46F2-8A83-2997870C366E}"/>
    <dgm:cxn modelId="{1BFF72EB-FCFF-4DCD-AA75-048B7366CD8A}" type="presOf" srcId="{AAB26402-6925-4A15-B324-D5543F8FBEC2}" destId="{AA01A67B-AA62-4035-85CA-5AF21C720BCE}" srcOrd="0" destOrd="0" presId="urn:microsoft.com/office/officeart/2005/8/layout/hList1"/>
    <dgm:cxn modelId="{1FA3F6ED-8EF8-4CFF-BBB1-CFDE4FC2AFEF}" srcId="{CC721C15-0A75-45E9-88DF-0FF6ADE9D70E}" destId="{156FF32B-3764-4715-9E54-34EA68A0C688}" srcOrd="1" destOrd="0" parTransId="{3C960321-9156-4BA6-84D5-2DF55E950CDA}" sibTransId="{9972183F-3905-498C-B800-FC0F7C7C60CA}"/>
    <dgm:cxn modelId="{62D406F5-66C5-4D1D-BB68-6E8D815FEA05}" type="presOf" srcId="{9B991D45-4AD9-4212-AA17-BA7F96960FED}" destId="{77C0B5D1-BADA-4B5C-9DBF-F01716EB9AB0}" srcOrd="0" destOrd="0" presId="urn:microsoft.com/office/officeart/2005/8/layout/hList1"/>
    <dgm:cxn modelId="{83FDEF7B-8FF9-4A5F-83D8-E118859B5273}" type="presParOf" srcId="{E7BF0A31-5FAC-40BC-96DF-1A7C85CBA671}" destId="{6088EDF1-F291-4DBC-AEC9-E6DCF0FC4FDB}" srcOrd="0" destOrd="0" presId="urn:microsoft.com/office/officeart/2005/8/layout/hList1"/>
    <dgm:cxn modelId="{9D3E8FC9-4A40-417F-AB43-B6D18B3A22BB}" type="presParOf" srcId="{6088EDF1-F291-4DBC-AEC9-E6DCF0FC4FDB}" destId="{A07461B9-EDF1-4F21-AD0F-6A851BFDB5C7}" srcOrd="0" destOrd="0" presId="urn:microsoft.com/office/officeart/2005/8/layout/hList1"/>
    <dgm:cxn modelId="{A0FAF1E9-1143-4165-B431-69D3F616E089}" type="presParOf" srcId="{6088EDF1-F291-4DBC-AEC9-E6DCF0FC4FDB}" destId="{77C0B5D1-BADA-4B5C-9DBF-F01716EB9AB0}" srcOrd="1" destOrd="0" presId="urn:microsoft.com/office/officeart/2005/8/layout/hList1"/>
    <dgm:cxn modelId="{C1D8E1B6-D085-4BD6-A235-10493F92B252}" type="presParOf" srcId="{E7BF0A31-5FAC-40BC-96DF-1A7C85CBA671}" destId="{00E3EC6A-BA09-4625-91ED-9743BFA1980C}" srcOrd="1" destOrd="0" presId="urn:microsoft.com/office/officeart/2005/8/layout/hList1"/>
    <dgm:cxn modelId="{5232ADF5-06FA-440F-82C3-03EE2D85F1D0}" type="presParOf" srcId="{E7BF0A31-5FAC-40BC-96DF-1A7C85CBA671}" destId="{CE1A76AD-DFB0-4583-9F1D-B691F61C70BB}" srcOrd="2" destOrd="0" presId="urn:microsoft.com/office/officeart/2005/8/layout/hList1"/>
    <dgm:cxn modelId="{34427331-DBA3-4CEB-A4DE-8ACB50F7751D}" type="presParOf" srcId="{CE1A76AD-DFB0-4583-9F1D-B691F61C70BB}" destId="{236CA7BC-17BD-4A51-A4CD-1F4A2093C031}" srcOrd="0" destOrd="0" presId="urn:microsoft.com/office/officeart/2005/8/layout/hList1"/>
    <dgm:cxn modelId="{2D1E6335-6EF4-4693-95EE-C5EE3D1AD995}" type="presParOf" srcId="{CE1A76AD-DFB0-4583-9F1D-B691F61C70BB}" destId="{E3001598-59A8-4801-93F3-4A3FC22C2DB7}" srcOrd="1" destOrd="0" presId="urn:microsoft.com/office/officeart/2005/8/layout/hList1"/>
    <dgm:cxn modelId="{068B0AD9-0D96-481C-B11D-32757BC6B839}" type="presParOf" srcId="{E7BF0A31-5FAC-40BC-96DF-1A7C85CBA671}" destId="{2FB81A8B-D740-48FB-81F1-1AE50C88F8C6}" srcOrd="3" destOrd="0" presId="urn:microsoft.com/office/officeart/2005/8/layout/hList1"/>
    <dgm:cxn modelId="{08D1ED21-B038-4318-88D3-CC648AF53E91}" type="presParOf" srcId="{E7BF0A31-5FAC-40BC-96DF-1A7C85CBA671}" destId="{8D12A91F-0537-4B0F-B2B4-77439572B44F}" srcOrd="4" destOrd="0" presId="urn:microsoft.com/office/officeart/2005/8/layout/hList1"/>
    <dgm:cxn modelId="{82B72A6E-B336-4324-93B2-68C961416DDF}" type="presParOf" srcId="{8D12A91F-0537-4B0F-B2B4-77439572B44F}" destId="{AA01A67B-AA62-4035-85CA-5AF21C720BCE}" srcOrd="0" destOrd="0" presId="urn:microsoft.com/office/officeart/2005/8/layout/hList1"/>
    <dgm:cxn modelId="{27D9298F-743F-4EBB-8E1E-FAED29F67524}" type="presParOf" srcId="{8D12A91F-0537-4B0F-B2B4-77439572B44F}" destId="{56D3290B-1C52-482B-9C83-458F5DAFED6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7461B9-EDF1-4F21-AD0F-6A851BFDB5C7}">
      <dsp:nvSpPr>
        <dsp:cNvPr id="0" name=""/>
        <dsp:cNvSpPr/>
      </dsp:nvSpPr>
      <dsp:spPr>
        <a:xfrm>
          <a:off x="3371" y="245180"/>
          <a:ext cx="3286890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Key Findings Summary:</a:t>
          </a:r>
          <a:endParaRPr lang="en-GB" sz="1200" b="0" i="0" kern="1200" dirty="0"/>
        </a:p>
      </dsp:txBody>
      <dsp:txXfrm>
        <a:off x="3371" y="245180"/>
        <a:ext cx="3286890" cy="345600"/>
      </dsp:txXfrm>
    </dsp:sp>
    <dsp:sp modelId="{77C0B5D1-BADA-4B5C-9DBF-F01716EB9AB0}">
      <dsp:nvSpPr>
        <dsp:cNvPr id="0" name=""/>
        <dsp:cNvSpPr/>
      </dsp:nvSpPr>
      <dsp:spPr>
        <a:xfrm>
          <a:off x="3371" y="590780"/>
          <a:ext cx="3286890" cy="16140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kern="1200" dirty="0"/>
            <a:t>Patients with heart disease are on average 5.35 years older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kern="1200" dirty="0"/>
            <a:t>Males account for 77% of heart disease cases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kern="1200" dirty="0"/>
            <a:t>67.72% of all cases are male patients over 50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kern="1200" dirty="0"/>
            <a:t>Asymptomatic chest pain (ASY) occurs in 77% of heart disease patients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kern="1200" dirty="0"/>
            <a:t>Both genders have elevated blood pressure (~137 mm Hg)</a:t>
          </a:r>
        </a:p>
      </dsp:txBody>
      <dsp:txXfrm>
        <a:off x="3371" y="590780"/>
        <a:ext cx="3286890" cy="1614060"/>
      </dsp:txXfrm>
    </dsp:sp>
    <dsp:sp modelId="{236CA7BC-17BD-4A51-A4CD-1F4A2093C031}">
      <dsp:nvSpPr>
        <dsp:cNvPr id="0" name=""/>
        <dsp:cNvSpPr/>
      </dsp:nvSpPr>
      <dsp:spPr>
        <a:xfrm>
          <a:off x="3750426" y="245180"/>
          <a:ext cx="3286890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i="0" kern="1200" dirty="0"/>
            <a:t>Limitations:</a:t>
          </a:r>
          <a:endParaRPr lang="en-GB" sz="1200" b="0" i="0" kern="1200" dirty="0"/>
        </a:p>
      </dsp:txBody>
      <dsp:txXfrm>
        <a:off x="3750426" y="245180"/>
        <a:ext cx="3286890" cy="345600"/>
      </dsp:txXfrm>
    </dsp:sp>
    <dsp:sp modelId="{E3001598-59A8-4801-93F3-4A3FC22C2DB7}">
      <dsp:nvSpPr>
        <dsp:cNvPr id="0" name=""/>
        <dsp:cNvSpPr/>
      </dsp:nvSpPr>
      <dsp:spPr>
        <a:xfrm>
          <a:off x="3750426" y="590780"/>
          <a:ext cx="3286890" cy="16140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b="0" i="0" kern="1200" dirty="0"/>
            <a:t>Cross-sectional data - cannot establish causality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b="0" i="0" kern="1200" dirty="0"/>
            <a:t>No lifestyle factors (diet, smoking, exercise)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b="0" i="0" kern="1200" dirty="0"/>
            <a:t>Geographic diversity unknown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b="0" i="0" kern="1200" dirty="0"/>
            <a:t>Medication history unavailable</a:t>
          </a:r>
        </a:p>
      </dsp:txBody>
      <dsp:txXfrm>
        <a:off x="3750426" y="590780"/>
        <a:ext cx="3286890" cy="1614060"/>
      </dsp:txXfrm>
    </dsp:sp>
    <dsp:sp modelId="{AA01A67B-AA62-4035-85CA-5AF21C720BCE}">
      <dsp:nvSpPr>
        <dsp:cNvPr id="0" name=""/>
        <dsp:cNvSpPr/>
      </dsp:nvSpPr>
      <dsp:spPr>
        <a:xfrm>
          <a:off x="7497481" y="245180"/>
          <a:ext cx="3286890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i="0" kern="1200" dirty="0"/>
            <a:t>Possible Improvements:</a:t>
          </a:r>
          <a:endParaRPr lang="en-GB" sz="1200" b="0" i="0" kern="1200" dirty="0"/>
        </a:p>
      </dsp:txBody>
      <dsp:txXfrm>
        <a:off x="7497481" y="245180"/>
        <a:ext cx="3286890" cy="345600"/>
      </dsp:txXfrm>
    </dsp:sp>
    <dsp:sp modelId="{56D3290B-1C52-482B-9C83-458F5DAFED6E}">
      <dsp:nvSpPr>
        <dsp:cNvPr id="0" name=""/>
        <dsp:cNvSpPr/>
      </dsp:nvSpPr>
      <dsp:spPr>
        <a:xfrm>
          <a:off x="7497481" y="590780"/>
          <a:ext cx="3286890" cy="16140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b="0" i="0" kern="1200" dirty="0"/>
            <a:t>Collect longitudinal data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b="0" i="0" kern="1200" dirty="0"/>
            <a:t>Include lifestyle factors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b="0" i="0" kern="1200" dirty="0"/>
            <a:t>Apply machine learning for prediction</a:t>
          </a:r>
        </a:p>
      </dsp:txBody>
      <dsp:txXfrm>
        <a:off x="7497481" y="590780"/>
        <a:ext cx="3286890" cy="1614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872296-1C6B-4408-8358-C9F522857F87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E27D6D-F871-4431-A87B-9FDEE342CF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573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E27D6D-F871-4431-A87B-9FDEE342CF7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139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71D15-A384-A42E-38B2-BDA60A5F0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09B6C-3476-1EF4-6319-37F2E6C7DC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849C8-63FA-278D-4CA2-A7316DB8F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A8AEA-2F82-489C-8178-431D8C40E400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6F95F-9982-D719-9A79-B265B9DD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E08B4-0D37-0D6D-7969-37AEF3E1D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FD22-272F-4E9F-9DBC-CF96E91E3B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471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EF81-0472-C252-51AF-B78031A55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8853E-4DA1-8319-D12B-6DC573651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63736-7A2B-46DD-D4AD-BFF8AE1C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A8AEA-2F82-489C-8178-431D8C40E400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0BF38-88E0-3127-D3F8-2F3F23C6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2D832-255C-A4DE-0253-6B2601DB6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FD22-272F-4E9F-9DBC-CF96E91E3B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43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1F76E-4238-7E83-0554-57DEB599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6A443-3BD1-4D6C-F62A-01D3313AD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12056-D54F-CD68-EC04-AD511B85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A8AEA-2F82-489C-8178-431D8C40E400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ED023-8C89-FA02-C732-D056444E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BD622-131E-817A-8B8D-1790FCB9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FD22-272F-4E9F-9DBC-CF96E91E3B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10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A8E71-A50E-28BB-B2C7-AAA1A7968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BF010-8A3A-7811-3C1E-F74CC29D0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87F2D-F0D5-9B1E-2419-458F8DEC3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9CF2F-2756-3431-1D11-B67CBEA8C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A8AEA-2F82-489C-8178-431D8C40E400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62D19-2AD5-2D28-16BE-BEB2B036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7E115-D0D7-2846-97B1-CF7B3B88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FD22-272F-4E9F-9DBC-CF96E91E3B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45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5EA3-7995-7705-2AB6-1970232A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D9883-E028-A5F2-EF3E-D684C5099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A0DF7-04F8-705D-DA9B-DE9F68ED4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B84C4-AE35-BD44-04BB-95E115F39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35BAA-F0F9-C05D-F6A1-99F47AE3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46BBAD-638A-F4B5-84FA-F3B5CAD7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A8AEA-2F82-489C-8178-431D8C40E400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A07840-2930-804B-0976-291569823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8C8254-7120-5E6F-5158-54E265D3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FD22-272F-4E9F-9DBC-CF96E91E3B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65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8E225-091A-1C17-D4D0-9D1BBEB93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86787-1FBC-04CA-B469-B9196A6C8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A8AEA-2F82-489C-8178-431D8C40E400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10245-2F35-962E-BC3E-A2520F5F8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6F523-524B-5028-A45C-44C4BCC23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FD22-272F-4E9F-9DBC-CF96E91E3B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217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D13111-F5E7-B44A-0F41-63000DF54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A8AEA-2F82-489C-8178-431D8C40E400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C9B97-CA1D-9CFE-852E-71B8A1110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21EA2-6F90-218F-EF68-B924F2C3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FD22-272F-4E9F-9DBC-CF96E91E3B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189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CB9C-2B48-0755-2A55-F869CFF82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AA5E5-1856-5635-EFF6-1E0599E32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33491-0EF1-F75C-7C4E-06093669B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5D0BF-CDD3-D048-CBEA-265F05861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A8AEA-2F82-489C-8178-431D8C40E400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7652E-8E0C-EC6F-39C7-742ADF50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24BC9-401C-A311-3C7E-ED9C8351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FD22-272F-4E9F-9DBC-CF96E91E3B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087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E34BC-D7A3-F6F6-A40C-219BF0C00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1D930-7BA4-35C4-2083-615A57545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746A8-5F6F-7B68-85CD-93E8C882C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1A65D-54D6-88B1-F41D-AD90FF5F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A8AEA-2F82-489C-8178-431D8C40E400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63C02-9F0C-A16E-0E9C-4C4DA72E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65342-3339-CE1C-3A85-4F60D0AB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FD22-272F-4E9F-9DBC-CF96E91E3B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06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0541C-A494-26C5-4AD6-750B5281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88835-CD5D-DE5A-5C2E-1FEAB1B4C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5F5BA-DBB5-B699-0DA1-CA2EA25AA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A8AEA-2F82-489C-8178-431D8C40E400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D1C7B-DE75-3F52-3D09-35986E2E2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C8236-294D-4295-FD96-AB8F76D50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FD22-272F-4E9F-9DBC-CF96E91E3B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834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5FBD82-7B64-156D-1F23-4410C23EEA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240421-E0DD-6651-C4B6-A8B3D6DDC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12C0A-8980-7810-EB1E-966C2C8F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A8AEA-2F82-489C-8178-431D8C40E400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53549-A0C2-2F61-BAD6-CE94C583C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5AA8E-F24A-8486-FE67-D28F03FB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FD22-272F-4E9F-9DBC-CF96E91E3B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3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523ED4-9767-A4DA-6101-03A4CC4C7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5FC22-1D1A-6F68-43E2-6E62A16CD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360D2-3AFD-EE3A-EBDF-3763F3C516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AA8AEA-2F82-489C-8178-431D8C40E400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10F7B-606D-DD31-863C-11629B5AC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FB723-4045-A863-64A2-32A8E3EE2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A0FD22-272F-4E9F-9DBC-CF96E91E3B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91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F4E4-478E-90C1-3FB1-E2987DF36120}"/>
              </a:ext>
            </a:extLst>
          </p:cNvPr>
          <p:cNvSpPr>
            <a:spLocks noGrp="1"/>
          </p:cNvSpPr>
          <p:nvPr>
            <p:ph type="ctrTitle"/>
          </p:nvPr>
        </p:nvSpPr>
        <p:spPr/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GB" b="1" dirty="0">
                <a:effectLst/>
              </a:rPr>
              <a:t>Heart Failure Prediction Dataset Analysis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C8516-DD68-A742-7EB8-02BCB6E9F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37305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GB" b="1" dirty="0">
                <a:effectLst/>
              </a:rPr>
              <a:t>PROG101 - Introduction to Programming</a:t>
            </a:r>
            <a:br>
              <a:rPr lang="en-GB" b="1" dirty="0">
                <a:effectLst/>
              </a:rPr>
            </a:br>
            <a:r>
              <a:rPr lang="en-GB" b="1" dirty="0">
                <a:effectLst/>
              </a:rPr>
              <a:t>Summer 2026 - Final Project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876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7852-B905-DBE1-48AE-70DB91B37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Project 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79EDF-40B4-13AA-3182-9D727D297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086"/>
            <a:ext cx="10515600" cy="456587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/>
              <a:t>Project Aim:</a:t>
            </a:r>
          </a:p>
          <a:p>
            <a:r>
              <a:rPr lang="en-GB" dirty="0"/>
              <a:t>To analyze cardiovascular health indicators and identify patterns associated with heart disease</a:t>
            </a:r>
          </a:p>
          <a:p>
            <a:r>
              <a:rPr lang="en-GB" dirty="0"/>
              <a:t>To understand which clinical features are most strongly correlated with heart disease diagnosis</a:t>
            </a:r>
          </a:p>
          <a:p>
            <a:r>
              <a:rPr lang="en-GB" dirty="0"/>
              <a:t>To provide data-driven insights for early detection and prevention</a:t>
            </a:r>
          </a:p>
          <a:p>
            <a:pPr marL="0" indent="0">
              <a:buNone/>
            </a:pPr>
            <a:r>
              <a:rPr lang="en-GB" b="1" dirty="0"/>
              <a:t>Dataset Selection:</a:t>
            </a:r>
          </a:p>
          <a:p>
            <a:r>
              <a:rPr lang="en-GB" b="1" dirty="0"/>
              <a:t>Dataset:</a:t>
            </a:r>
            <a:r>
              <a:rPr lang="en-GB" dirty="0"/>
              <a:t> Heart Failure Prediction Dataset</a:t>
            </a:r>
          </a:p>
          <a:p>
            <a:r>
              <a:rPr lang="en-GB" b="1" dirty="0"/>
              <a:t>Source:</a:t>
            </a:r>
            <a:r>
              <a:rPr lang="en-GB" dirty="0"/>
              <a:t> Kaggle (</a:t>
            </a:r>
            <a:r>
              <a:rPr lang="en-GB" dirty="0" err="1"/>
              <a:t>fedesoriano</a:t>
            </a:r>
            <a:r>
              <a:rPr lang="en-GB" dirty="0"/>
              <a:t>, September 2021)</a:t>
            </a:r>
          </a:p>
          <a:p>
            <a:r>
              <a:rPr lang="en-GB" b="1" dirty="0"/>
              <a:t>Why Chosen:</a:t>
            </a:r>
            <a:r>
              <a:rPr lang="en-GB" dirty="0"/>
              <a:t> Cardiovascular disease is the #1 cause of death globally (31% of all deaths)</a:t>
            </a:r>
          </a:p>
          <a:p>
            <a:r>
              <a:rPr lang="en-GB" b="1" dirty="0"/>
              <a:t>Size:</a:t>
            </a:r>
            <a:r>
              <a:rPr lang="en-GB" dirty="0"/>
              <a:t> 918 patient records with 12 clinical features</a:t>
            </a:r>
          </a:p>
          <a:p>
            <a:pPr marL="0" indent="0">
              <a:buNone/>
            </a:pPr>
            <a:r>
              <a:rPr lang="en-GB" b="1" dirty="0"/>
              <a:t>Main Columns Analyzed:</a:t>
            </a:r>
          </a:p>
          <a:p>
            <a:r>
              <a:rPr lang="en-GB" dirty="0"/>
              <a:t>Age, Sex, </a:t>
            </a:r>
            <a:r>
              <a:rPr lang="en-GB" dirty="0" err="1"/>
              <a:t>ChestPainType</a:t>
            </a:r>
            <a:r>
              <a:rPr lang="en-GB" dirty="0"/>
              <a:t>, </a:t>
            </a:r>
            <a:r>
              <a:rPr lang="en-GB" dirty="0" err="1"/>
              <a:t>RestingBP</a:t>
            </a:r>
            <a:r>
              <a:rPr lang="en-GB" dirty="0"/>
              <a:t>, Cholesterol, </a:t>
            </a:r>
            <a:r>
              <a:rPr lang="en-GB" dirty="0" err="1"/>
              <a:t>FastingBS</a:t>
            </a:r>
            <a:r>
              <a:rPr lang="en-GB" dirty="0"/>
              <a:t>, </a:t>
            </a:r>
            <a:r>
              <a:rPr lang="en-GB" dirty="0" err="1"/>
              <a:t>MaxHR</a:t>
            </a:r>
            <a:r>
              <a:rPr lang="en-GB" dirty="0"/>
              <a:t>, </a:t>
            </a:r>
            <a:r>
              <a:rPr lang="en-GB" dirty="0" err="1"/>
              <a:t>ExerciseAngina</a:t>
            </a:r>
            <a:r>
              <a:rPr lang="en-GB" dirty="0"/>
              <a:t>, </a:t>
            </a:r>
            <a:r>
              <a:rPr lang="en-GB" dirty="0" err="1"/>
              <a:t>Oldpeak</a:t>
            </a:r>
            <a:r>
              <a:rPr lang="en-GB" dirty="0"/>
              <a:t>, </a:t>
            </a:r>
            <a:r>
              <a:rPr lang="en-GB" dirty="0" err="1"/>
              <a:t>ST_Slope</a:t>
            </a:r>
            <a:r>
              <a:rPr lang="en-GB" dirty="0"/>
              <a:t>, </a:t>
            </a:r>
            <a:r>
              <a:rPr lang="en-GB" dirty="0" err="1"/>
              <a:t>HeartDisease</a:t>
            </a:r>
            <a:r>
              <a:rPr lang="en-GB" dirty="0"/>
              <a:t> (Target Variable)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5343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EE2AC-D522-D9FE-975F-2E2D3245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10 Analysis Questions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C0B22A-DB83-328E-05C1-DAF437C617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2580864"/>
              </p:ext>
            </p:extLst>
          </p:nvPr>
        </p:nvGraphicFramePr>
        <p:xfrm>
          <a:off x="935702" y="1493447"/>
          <a:ext cx="10418097" cy="4715713"/>
        </p:xfrm>
        <a:graphic>
          <a:graphicData uri="http://schemas.openxmlformats.org/drawingml/2006/table">
            <a:tbl>
              <a:tblPr/>
              <a:tblGrid>
                <a:gridCol w="1001955">
                  <a:extLst>
                    <a:ext uri="{9D8B030D-6E8A-4147-A177-3AD203B41FA5}">
                      <a16:colId xmlns:a16="http://schemas.microsoft.com/office/drawing/2014/main" val="304459572"/>
                    </a:ext>
                  </a:extLst>
                </a:gridCol>
                <a:gridCol w="1959429">
                  <a:extLst>
                    <a:ext uri="{9D8B030D-6E8A-4147-A177-3AD203B41FA5}">
                      <a16:colId xmlns:a16="http://schemas.microsoft.com/office/drawing/2014/main" val="424787871"/>
                    </a:ext>
                  </a:extLst>
                </a:gridCol>
                <a:gridCol w="7456713">
                  <a:extLst>
                    <a:ext uri="{9D8B030D-6E8A-4147-A177-3AD203B41FA5}">
                      <a16:colId xmlns:a16="http://schemas.microsoft.com/office/drawing/2014/main" val="289307326"/>
                    </a:ext>
                  </a:extLst>
                </a:gridCol>
              </a:tblGrid>
              <a:tr h="17344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#</a:t>
                      </a:r>
                    </a:p>
                  </a:txBody>
                  <a:tcPr marL="40456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Question Type</a:t>
                      </a:r>
                    </a:p>
                  </a:txBody>
                  <a:tcPr marL="44951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Question</a:t>
                      </a:r>
                    </a:p>
                  </a:txBody>
                  <a:tcPr marL="44951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365760"/>
                  </a:ext>
                </a:extLst>
              </a:tr>
              <a:tr h="50401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Q1</a:t>
                      </a:r>
                      <a:endParaRPr lang="en-GB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0456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Statistical</a:t>
                      </a:r>
                    </a:p>
                  </a:txBody>
                  <a:tcPr marL="44951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What is the average age, MaxHR, and cholesterol by heart disease status?</a:t>
                      </a:r>
                    </a:p>
                  </a:txBody>
                  <a:tcPr marL="44951" marR="40456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518390"/>
                  </a:ext>
                </a:extLst>
              </a:tr>
              <a:tr h="37963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Q2</a:t>
                      </a:r>
                      <a:endParaRPr lang="en-GB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0456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Filtering</a:t>
                      </a:r>
                    </a:p>
                  </a:txBody>
                  <a:tcPr marL="44951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How many male patients over 50 have heart disease?</a:t>
                      </a:r>
                    </a:p>
                  </a:txBody>
                  <a:tcPr marL="44951" marR="40456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135210"/>
                  </a:ext>
                </a:extLst>
              </a:tr>
              <a:tr h="50401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Q3</a:t>
                      </a:r>
                      <a:endParaRPr lang="en-GB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0456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Filtering</a:t>
                      </a:r>
                    </a:p>
                  </a:txBody>
                  <a:tcPr marL="44951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What is the average cholesterol of patients with ASY + ExerciseAngina?</a:t>
                      </a:r>
                    </a:p>
                  </a:txBody>
                  <a:tcPr marL="44951" marR="40456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54297"/>
                  </a:ext>
                </a:extLst>
              </a:tr>
              <a:tr h="37963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Q4</a:t>
                      </a:r>
                      <a:endParaRPr lang="en-GB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0456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Grouping</a:t>
                      </a:r>
                    </a:p>
                  </a:txBody>
                  <a:tcPr marL="44951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What is the number of heart disease cases by chest pain type?</a:t>
                      </a:r>
                    </a:p>
                  </a:txBody>
                  <a:tcPr marL="44951" marR="40456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438941"/>
                  </a:ext>
                </a:extLst>
              </a:tr>
              <a:tr h="37963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Q5</a:t>
                      </a:r>
                      <a:endParaRPr lang="en-GB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0456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Sorting</a:t>
                      </a:r>
                    </a:p>
                  </a:txBody>
                  <a:tcPr marL="44951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Which are the top 10 patients with the highest cholesterol?</a:t>
                      </a:r>
                    </a:p>
                  </a:txBody>
                  <a:tcPr marL="44951" marR="40456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588962"/>
                  </a:ext>
                </a:extLst>
              </a:tr>
              <a:tr h="37963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Q6</a:t>
                      </a:r>
                      <a:endParaRPr lang="en-GB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0456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Combination</a:t>
                      </a:r>
                    </a:p>
                  </a:txBody>
                  <a:tcPr marL="44951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What is the average age for each chest pain type (sorted)?</a:t>
                      </a:r>
                    </a:p>
                  </a:txBody>
                  <a:tcPr marL="44951" marR="40456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930737"/>
                  </a:ext>
                </a:extLst>
              </a:tr>
              <a:tr h="50401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Q7</a:t>
                      </a:r>
                      <a:endParaRPr lang="en-GB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0456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Combination</a:t>
                      </a:r>
                    </a:p>
                  </a:txBody>
                  <a:tcPr marL="44951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Which gender has higher average resting BP among heart disease patients?</a:t>
                      </a:r>
                    </a:p>
                  </a:txBody>
                  <a:tcPr marL="44951" marR="40456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65771"/>
                  </a:ext>
                </a:extLst>
              </a:tr>
              <a:tr h="50401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Q8</a:t>
                      </a:r>
                      <a:endParaRPr lang="en-GB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0456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Visualization</a:t>
                      </a:r>
                    </a:p>
                  </a:txBody>
                  <a:tcPr marL="44951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What is the age distribution of patients with/without heart disease?</a:t>
                      </a:r>
                    </a:p>
                  </a:txBody>
                  <a:tcPr marL="44951" marR="40456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208913"/>
                  </a:ext>
                </a:extLst>
              </a:tr>
              <a:tr h="37963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Q9</a:t>
                      </a:r>
                      <a:endParaRPr lang="en-GB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0456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Visualization</a:t>
                      </a:r>
                    </a:p>
                  </a:txBody>
                  <a:tcPr marL="44951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How many patients have heart disease by sex?</a:t>
                      </a:r>
                    </a:p>
                  </a:txBody>
                  <a:tcPr marL="44951" marR="40456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794895"/>
                  </a:ext>
                </a:extLst>
              </a:tr>
              <a:tr h="50401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Q10</a:t>
                      </a:r>
                      <a:endParaRPr lang="en-GB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0456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Visualization</a:t>
                      </a:r>
                    </a:p>
                  </a:txBody>
                  <a:tcPr marL="44951" marR="44951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What is the distribution of chest pain types among heart disease patients?</a:t>
                      </a:r>
                    </a:p>
                  </a:txBody>
                  <a:tcPr marL="44951" marR="40456" marT="28094" marB="280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043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784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9530-C311-957A-F1DC-462DA88B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 Loading &amp; Cleaning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D5DAC0-5C82-8E25-FBA2-504CDCCCD5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100743"/>
              </p:ext>
            </p:extLst>
          </p:nvPr>
        </p:nvGraphicFramePr>
        <p:xfrm>
          <a:off x="965100" y="1730017"/>
          <a:ext cx="10388700" cy="1841500"/>
        </p:xfrm>
        <a:graphic>
          <a:graphicData uri="http://schemas.openxmlformats.org/drawingml/2006/table">
            <a:tbl>
              <a:tblPr firstRow="1" firstCol="1"/>
              <a:tblGrid>
                <a:gridCol w="896046">
                  <a:extLst>
                    <a:ext uri="{9D8B030D-6E8A-4147-A177-3AD203B41FA5}">
                      <a16:colId xmlns:a16="http://schemas.microsoft.com/office/drawing/2014/main" val="2971858540"/>
                    </a:ext>
                  </a:extLst>
                </a:gridCol>
                <a:gridCol w="3732089">
                  <a:extLst>
                    <a:ext uri="{9D8B030D-6E8A-4147-A177-3AD203B41FA5}">
                      <a16:colId xmlns:a16="http://schemas.microsoft.com/office/drawing/2014/main" val="1963557861"/>
                    </a:ext>
                  </a:extLst>
                </a:gridCol>
                <a:gridCol w="5760565">
                  <a:extLst>
                    <a:ext uri="{9D8B030D-6E8A-4147-A177-3AD203B41FA5}">
                      <a16:colId xmlns:a16="http://schemas.microsoft.com/office/drawing/2014/main" val="3822577897"/>
                    </a:ext>
                  </a:extLst>
                </a:gridCol>
              </a:tblGrid>
              <a:tr h="35507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Step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Action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Justification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351908"/>
                  </a:ext>
                </a:extLst>
              </a:tr>
              <a:tr h="35507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 dirty="0">
                          <a:effectLst/>
                          <a:latin typeface="quote-cjk-patch"/>
                        </a:rPr>
                        <a:t>Checked for missing values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None found - data is complete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155652"/>
                  </a:ext>
                </a:extLst>
              </a:tr>
              <a:tr h="35507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 dirty="0">
                          <a:effectLst/>
                          <a:latin typeface="quote-cjk-patch"/>
                        </a:rPr>
                        <a:t>Checked for duplicates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None found - no removal needed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272233"/>
                  </a:ext>
                </a:extLst>
              </a:tr>
              <a:tr h="35507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Standardized column names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 dirty="0">
                          <a:effectLst/>
                          <a:latin typeface="quote-cjk-patch"/>
                        </a:rPr>
                        <a:t>Made all lowercase for consistency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942935"/>
                  </a:ext>
                </a:extLst>
              </a:tr>
              <a:tr h="35507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Validated data types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 dirty="0">
                          <a:effectLst/>
                          <a:latin typeface="quote-cjk-patch"/>
                        </a:rPr>
                        <a:t>Confirmed correct types (int, float, object)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8153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174C3EC-3260-F942-01D2-81A0CA3770C6}"/>
              </a:ext>
            </a:extLst>
          </p:cNvPr>
          <p:cNvSpPr txBox="1"/>
          <p:nvPr/>
        </p:nvSpPr>
        <p:spPr>
          <a:xfrm>
            <a:off x="838200" y="13252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 b="1" i="0" dirty="0">
                <a:solidFill>
                  <a:srgbClr val="0F1115"/>
                </a:solidFill>
                <a:effectLst/>
                <a:latin typeface="quote-cjk-patch"/>
              </a:rPr>
              <a:t>Cleaning Steps Performed:</a:t>
            </a:r>
            <a:endParaRPr lang="en-GB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2F90BA-2B67-7154-3066-17DEEEFE9D3B}"/>
              </a:ext>
            </a:extLst>
          </p:cNvPr>
          <p:cNvSpPr txBox="1"/>
          <p:nvPr/>
        </p:nvSpPr>
        <p:spPr>
          <a:xfrm>
            <a:off x="838199" y="3918252"/>
            <a:ext cx="7826829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 b="1" i="0" dirty="0">
                <a:solidFill>
                  <a:srgbClr val="0F1115"/>
                </a:solidFill>
                <a:effectLst/>
                <a:latin typeface="quote-cjk-patch"/>
              </a:rPr>
              <a:t>Why Cleaning Was Needed:</a:t>
            </a:r>
            <a:endParaRPr lang="en-GB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marR="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F1115"/>
                </a:solidFill>
                <a:effectLst/>
                <a:latin typeface="quote-cjk-patch"/>
              </a:rPr>
              <a:t>Dataset was already clean, but standardization improves code reliability</a:t>
            </a:r>
          </a:p>
          <a:p>
            <a:pPr marL="285750" marR="0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F1115"/>
                </a:solidFill>
                <a:effectLst/>
                <a:latin typeface="quote-cjk-patch"/>
              </a:rPr>
              <a:t>Lowercase column names prevent errors when referencing columns</a:t>
            </a:r>
          </a:p>
          <a:p>
            <a:pPr marL="285750" marR="0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F1115"/>
                </a:solidFill>
                <a:effectLst/>
                <a:latin typeface="quote-cjk-patch"/>
              </a:rPr>
              <a:t>Data type validation ensures proper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2DD73C-513A-342E-2157-10285EEEA3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449"/>
          <a:stretch>
            <a:fillRect/>
          </a:stretch>
        </p:blipFill>
        <p:spPr>
          <a:xfrm>
            <a:off x="8143344" y="4575403"/>
            <a:ext cx="3765627" cy="154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73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BFA3-2646-A44C-D78B-701DC0299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Findings - Statistical Analysis &amp; Age Distribution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003695-4AC5-715B-0615-EBAB0B48D249}"/>
              </a:ext>
            </a:extLst>
          </p:cNvPr>
          <p:cNvSpPr txBox="1"/>
          <p:nvPr/>
        </p:nvSpPr>
        <p:spPr>
          <a:xfrm>
            <a:off x="838202" y="1446584"/>
            <a:ext cx="10515598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 b="1" i="0" dirty="0">
                <a:solidFill>
                  <a:srgbClr val="0F1115"/>
                </a:solidFill>
                <a:effectLst/>
                <a:latin typeface="quote-cjk-patch"/>
              </a:rPr>
              <a:t>Finding 1: Statistical Comparison (Q1)</a:t>
            </a:r>
            <a:endParaRPr lang="en-GB" dirty="0">
              <a:solidFill>
                <a:srgbClr val="0F1115"/>
              </a:solidFill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 b="1" i="0" dirty="0">
                <a:solidFill>
                  <a:srgbClr val="0F1115"/>
                </a:solidFill>
                <a:effectLst/>
                <a:latin typeface="quote-cjk-patch"/>
              </a:rPr>
              <a:t>Key Insight:</a:t>
            </a:r>
            <a:r>
              <a:rPr lang="en-GB" sz="1800" b="0" i="0" dirty="0">
                <a:solidFill>
                  <a:srgbClr val="0F1115"/>
                </a:solidFill>
                <a:effectLst/>
                <a:latin typeface="quote-cjk-patch"/>
              </a:rPr>
              <a:t> Heart disease patients are older and have lower cardiac capacity. Lower cholesterol in patients may indicate treatment effects.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endParaRPr lang="en-GB" dirty="0">
              <a:solidFill>
                <a:srgbClr val="0F1115"/>
              </a:solidFill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endParaRPr lang="en-GB" dirty="0">
              <a:solidFill>
                <a:srgbClr val="0F1115"/>
              </a:solidFill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endParaRPr lang="en-GB" sz="18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 b="1" i="0" dirty="0">
                <a:solidFill>
                  <a:srgbClr val="0F1115"/>
                </a:solidFill>
                <a:effectLst/>
                <a:latin typeface="quote-cjk-patch"/>
              </a:rPr>
              <a:t>Finding 2: Age Distribution by Heart Disease Status (Q8)</a:t>
            </a:r>
            <a:endParaRPr lang="en-GB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0569BF-36AC-8F2B-B600-4CFD5D2514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392702"/>
              </p:ext>
            </p:extLst>
          </p:nvPr>
        </p:nvGraphicFramePr>
        <p:xfrm>
          <a:off x="1001488" y="2639598"/>
          <a:ext cx="9960427" cy="1562288"/>
        </p:xfrm>
        <a:graphic>
          <a:graphicData uri="http://schemas.openxmlformats.org/drawingml/2006/table">
            <a:tbl>
              <a:tblPr/>
              <a:tblGrid>
                <a:gridCol w="2406169">
                  <a:extLst>
                    <a:ext uri="{9D8B030D-6E8A-4147-A177-3AD203B41FA5}">
                      <a16:colId xmlns:a16="http://schemas.microsoft.com/office/drawing/2014/main" val="714101186"/>
                    </a:ext>
                  </a:extLst>
                </a:gridCol>
                <a:gridCol w="2518086">
                  <a:extLst>
                    <a:ext uri="{9D8B030D-6E8A-4147-A177-3AD203B41FA5}">
                      <a16:colId xmlns:a16="http://schemas.microsoft.com/office/drawing/2014/main" val="4188041640"/>
                    </a:ext>
                  </a:extLst>
                </a:gridCol>
                <a:gridCol w="2518086">
                  <a:extLst>
                    <a:ext uri="{9D8B030D-6E8A-4147-A177-3AD203B41FA5}">
                      <a16:colId xmlns:a16="http://schemas.microsoft.com/office/drawing/2014/main" val="309779804"/>
                    </a:ext>
                  </a:extLst>
                </a:gridCol>
                <a:gridCol w="2518086">
                  <a:extLst>
                    <a:ext uri="{9D8B030D-6E8A-4147-A177-3AD203B41FA5}">
                      <a16:colId xmlns:a16="http://schemas.microsoft.com/office/drawing/2014/main" val="4189906525"/>
                    </a:ext>
                  </a:extLst>
                </a:gridCol>
              </a:tblGrid>
              <a:tr h="39057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Measure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No Disease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Disease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Difference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867290"/>
                  </a:ext>
                </a:extLst>
              </a:tr>
              <a:tr h="39057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Average Age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50.55 years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55.90 years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 dirty="0">
                          <a:effectLst/>
                          <a:latin typeface="quote-cjk-patch"/>
                        </a:rPr>
                        <a:t>+5.35 years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955435"/>
                  </a:ext>
                </a:extLst>
              </a:tr>
              <a:tr h="39057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Max Heart Rate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 dirty="0">
                          <a:effectLst/>
                          <a:latin typeface="quote-cjk-patch"/>
                        </a:rPr>
                        <a:t>148.15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127.66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-20.49 lower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371819"/>
                  </a:ext>
                </a:extLst>
              </a:tr>
              <a:tr h="39057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Cholesterol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227.12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175.94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 dirty="0">
                          <a:effectLst/>
                          <a:latin typeface="quote-cjk-patch"/>
                        </a:rPr>
                        <a:t>-51.18 lower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79257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70B3889-1927-6EF2-F0C6-F31CE5515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73" y="4317318"/>
            <a:ext cx="4453225" cy="254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39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40E37-F11E-5462-28E9-A0886CB2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Findings - Gender &amp; Chest Pain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3EABC-7E57-1462-26C5-CCFAFBAB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029200" cy="48037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/>
              <a:t>Finding 3: Heart Disease Cases by Sex (Q9)</a:t>
            </a:r>
          </a:p>
          <a:p>
            <a:pPr marL="0" indent="0">
              <a:buNone/>
            </a:pPr>
            <a:endParaRPr lang="en-GB" sz="1600" b="1" dirty="0"/>
          </a:p>
          <a:p>
            <a:pPr marL="0" indent="0">
              <a:buNone/>
            </a:pPr>
            <a:endParaRPr lang="en-GB" sz="1600" b="1" dirty="0"/>
          </a:p>
          <a:p>
            <a:pPr marL="0" indent="0">
              <a:buNone/>
            </a:pPr>
            <a:endParaRPr lang="en-GB" sz="1600" b="1" dirty="0"/>
          </a:p>
          <a:p>
            <a:pPr marL="0" indent="0">
              <a:buNone/>
            </a:pPr>
            <a:endParaRPr lang="en-GB" sz="1600" b="1" dirty="0"/>
          </a:p>
          <a:p>
            <a:pPr marL="0" indent="0">
              <a:buNone/>
            </a:pPr>
            <a:endParaRPr lang="en-GB" sz="1600" b="1" dirty="0"/>
          </a:p>
          <a:p>
            <a:pPr marL="0" indent="0">
              <a:buNone/>
            </a:pPr>
            <a:endParaRPr lang="en-GB" sz="1600" b="1" dirty="0"/>
          </a:p>
          <a:p>
            <a:pPr marL="0" indent="0">
              <a:buNone/>
            </a:pPr>
            <a:endParaRPr lang="en-GB" sz="1600" b="1" dirty="0"/>
          </a:p>
          <a:p>
            <a:pPr marL="0" indent="0">
              <a:buNone/>
            </a:pPr>
            <a:endParaRPr lang="en-GB" sz="1600" b="1" dirty="0"/>
          </a:p>
          <a:p>
            <a:pPr marL="0" indent="0">
              <a:buNone/>
            </a:pPr>
            <a:br>
              <a:rPr lang="en-GB" sz="1600" dirty="0"/>
            </a:b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r>
              <a:rPr lang="en-GB" sz="1600" b="1" dirty="0"/>
              <a:t>Key Insight:</a:t>
            </a:r>
            <a:r>
              <a:rPr lang="en-GB" sz="1600" dirty="0"/>
              <a:t> Males are significantly more affected by heart disease. Male patients over 50 represent 344 cases (67.72% of all heart disease patients).</a:t>
            </a:r>
            <a:br>
              <a:rPr lang="en-GB" sz="1600" dirty="0"/>
            </a:br>
            <a:endParaRPr lang="en-GB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998F89-8D57-32EC-38CC-701D87AB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101641"/>
            <a:ext cx="4808301" cy="372221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C7C17D-F119-B780-9845-3EFF2545394F}"/>
              </a:ext>
            </a:extLst>
          </p:cNvPr>
          <p:cNvSpPr txBox="1">
            <a:spLocks/>
          </p:cNvSpPr>
          <p:nvPr/>
        </p:nvSpPr>
        <p:spPr>
          <a:xfrm>
            <a:off x="5867399" y="1825623"/>
            <a:ext cx="5671457" cy="4803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600" b="1" dirty="0"/>
              <a:t>Finding 4: Chest Pain Type Distribution (Q10)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b="1" dirty="0"/>
              <a:t>Why This Matters:</a:t>
            </a:r>
            <a:endParaRPr lang="en-GB" sz="1600" dirty="0"/>
          </a:p>
          <a:p>
            <a:r>
              <a:rPr lang="en-GB" sz="1600" dirty="0"/>
              <a:t>Most heart disease patients show NO symptoms (ASY)</a:t>
            </a:r>
          </a:p>
          <a:p>
            <a:r>
              <a:rPr lang="en-GB" sz="1600" dirty="0"/>
              <a:t>Reliance on chest pain for diagnosis misses the majority of cases</a:t>
            </a:r>
          </a:p>
          <a:p>
            <a:r>
              <a:rPr lang="en-GB" sz="1600" dirty="0"/>
              <a:t>Highlights need for regular screening in at-risk populations</a:t>
            </a:r>
          </a:p>
          <a:p>
            <a:r>
              <a:rPr lang="en-GB" sz="1600" dirty="0"/>
              <a:t>392 patients with ASY chest pain = highest risk group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BB008E-9412-2390-1041-4F877464E7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43" t="2319" r="35247" b="4614"/>
          <a:stretch>
            <a:fillRect/>
          </a:stretch>
        </p:blipFill>
        <p:spPr>
          <a:xfrm>
            <a:off x="7271657" y="2171071"/>
            <a:ext cx="2373089" cy="251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11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CF826-E99C-D378-0C12-EE5540D0D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749"/>
            <a:ext cx="10515600" cy="1325563"/>
          </a:xfrm>
        </p:spPr>
        <p:txBody>
          <a:bodyPr/>
          <a:lstStyle/>
          <a:p>
            <a:r>
              <a:rPr lang="en-GB" b="1" dirty="0"/>
              <a:t>Conclusion, Recommendations &amp; Limitations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C36980-18FD-A053-60C8-FBF071EDB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46644"/>
              </p:ext>
            </p:extLst>
          </p:nvPr>
        </p:nvGraphicFramePr>
        <p:xfrm>
          <a:off x="838200" y="4250133"/>
          <a:ext cx="10874829" cy="2236220"/>
        </p:xfrm>
        <a:graphic>
          <a:graphicData uri="http://schemas.openxmlformats.org/drawingml/2006/table">
            <a:tbl>
              <a:tblPr/>
              <a:tblGrid>
                <a:gridCol w="814739">
                  <a:extLst>
                    <a:ext uri="{9D8B030D-6E8A-4147-A177-3AD203B41FA5}">
                      <a16:colId xmlns:a16="http://schemas.microsoft.com/office/drawing/2014/main" val="3074022559"/>
                    </a:ext>
                  </a:extLst>
                </a:gridCol>
                <a:gridCol w="4878732">
                  <a:extLst>
                    <a:ext uri="{9D8B030D-6E8A-4147-A177-3AD203B41FA5}">
                      <a16:colId xmlns:a16="http://schemas.microsoft.com/office/drawing/2014/main" val="3635310689"/>
                    </a:ext>
                  </a:extLst>
                </a:gridCol>
                <a:gridCol w="5181358">
                  <a:extLst>
                    <a:ext uri="{9D8B030D-6E8A-4147-A177-3AD203B41FA5}">
                      <a16:colId xmlns:a16="http://schemas.microsoft.com/office/drawing/2014/main" val="4240069991"/>
                    </a:ext>
                  </a:extLst>
                </a:gridCol>
              </a:tblGrid>
              <a:tr h="2200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#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Recommendation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Supporting Evidence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283340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Screen male patients over 50 regularly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 dirty="0">
                          <a:effectLst/>
                          <a:latin typeface="quote-cjk-patch"/>
                        </a:rPr>
                        <a:t>Q2: 67.72% of cases in this group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995207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Don't rely on symptoms for diagnosis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Q10: 77% have no symptoms (ASY)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267049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 dirty="0">
                          <a:effectLst/>
                          <a:latin typeface="quote-cjk-patch"/>
                        </a:rPr>
                        <a:t>Monitor cholesterol in ASY patients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Q3: Avg cholesterol 195.59 mm/dl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80368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Manage blood pressure for all patients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Q7: Both genders show hypertension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771007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>
                          <a:effectLst/>
                          <a:latin typeface="quote-cjk-patch"/>
                        </a:rPr>
                        <a:t>Start prevention programs at age 50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 dirty="0">
                          <a:effectLst/>
                          <a:latin typeface="quote-cjk-patch"/>
                        </a:rPr>
                        <a:t>Q8: Disease peaks after age 50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1728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9BC3FE2-FF78-1407-ECB0-9208DA08364D}"/>
              </a:ext>
            </a:extLst>
          </p:cNvPr>
          <p:cNvSpPr txBox="1"/>
          <p:nvPr/>
        </p:nvSpPr>
        <p:spPr>
          <a:xfrm>
            <a:off x="838200" y="391157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 b="1" i="0" dirty="0">
                <a:solidFill>
                  <a:srgbClr val="0F1115"/>
                </a:solidFill>
                <a:effectLst/>
                <a:latin typeface="quote-cjk-patch"/>
              </a:rPr>
              <a:t>Recommendations:</a:t>
            </a:r>
            <a:endParaRPr lang="en-GB" sz="1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3876F52-3EA1-E607-199B-90FD90FDE0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3033380"/>
              </p:ext>
            </p:extLst>
          </p:nvPr>
        </p:nvGraphicFramePr>
        <p:xfrm>
          <a:off x="925286" y="1461558"/>
          <a:ext cx="10787743" cy="2450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3284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728</Words>
  <Application>Microsoft Office PowerPoint</Application>
  <PresentationFormat>Widescreen</PresentationFormat>
  <Paragraphs>154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quote-cjk-patch</vt:lpstr>
      <vt:lpstr>Office Theme</vt:lpstr>
      <vt:lpstr>Heart Failure Prediction Dataset Analysis</vt:lpstr>
      <vt:lpstr>Project Overview</vt:lpstr>
      <vt:lpstr>10 Analysis Questions</vt:lpstr>
      <vt:lpstr>Data Loading &amp; Cleaning</vt:lpstr>
      <vt:lpstr>Key Findings - Statistical Analysis &amp; Age Distribution</vt:lpstr>
      <vt:lpstr>Key Findings - Gender &amp; Chest Pain Analysis</vt:lpstr>
      <vt:lpstr>Conclusion, Recommendations &amp;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Alisha Sh</dc:creator>
  <cp:lastModifiedBy>Alisha Sh</cp:lastModifiedBy>
  <cp:revision>3</cp:revision>
  <dcterms:created xsi:type="dcterms:W3CDTF">2026-07-09T19:59:09Z</dcterms:created>
  <dcterms:modified xsi:type="dcterms:W3CDTF">2026-07-09T20:31:55Z</dcterms:modified>
</cp:coreProperties>
</file>