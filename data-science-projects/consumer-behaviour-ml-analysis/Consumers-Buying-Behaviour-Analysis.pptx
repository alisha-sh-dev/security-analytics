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7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6145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t="-61000" b="-6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3" name="Text 0"/>
          <p:cNvSpPr/>
          <p:nvPr/>
        </p:nvSpPr>
        <p:spPr>
          <a:xfrm>
            <a:off x="496119" y="1489100"/>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000000"/>
                </a:solidFill>
                <a:ea typeface="Calibri" panose="020F0502020204030204" pitchFamily="34" charset="0"/>
                <a:cs typeface="Calibri" panose="020F0502020204030204" pitchFamily="34" charset="0"/>
              </a:rPr>
              <a:t>Consumer Buying Behavior Analysis</a:t>
            </a:r>
            <a:endParaRPr lang="en-US" sz="2750" dirty="0"/>
          </a:p>
        </p:txBody>
      </p:sp>
      <p:sp>
        <p:nvSpPr>
          <p:cNvPr id="4" name="Text 1"/>
          <p:cNvSpPr/>
          <p:nvPr/>
        </p:nvSpPr>
        <p:spPr>
          <a:xfrm>
            <a:off x="496119" y="2587675"/>
            <a:ext cx="4722763" cy="1066726"/>
          </a:xfrm>
          <a:prstGeom prst="rect">
            <a:avLst/>
          </a:prstGeom>
          <a:noFill/>
          <a:ln/>
        </p:spPr>
        <p:txBody>
          <a:bodyPr wrap="square" lIns="0" tIns="0" rIns="0" bIns="0" rtlCol="0" anchor="t">
            <a:normAutofit/>
          </a:bodyPr>
          <a:lstStyle/>
          <a:p>
            <a:pPr marL="0" indent="0" algn="l">
              <a:lnSpc>
                <a:spcPct val="133000"/>
              </a:lnSpc>
              <a:spcAft>
                <a:spcPts val="1250"/>
              </a:spcAft>
              <a:buNone/>
            </a:pPr>
            <a:r>
              <a:rPr lang="en-US" sz="1100" dirty="0">
                <a:solidFill>
                  <a:srgbClr val="272525"/>
                </a:solidFill>
                <a:ea typeface="Calibri" panose="020F0502020204030204" pitchFamily="34" charset="0"/>
                <a:cs typeface="Calibri" panose="020F0502020204030204" pitchFamily="34" charset="0"/>
              </a:rPr>
              <a:t>A Python-driven exploration of purchasing patterns using the Social Network Ads dataset.</a:t>
            </a:r>
            <a:endParaRPr lang="en-US" sz="1100" dirty="0"/>
          </a:p>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Student Name:</a:t>
            </a:r>
            <a:endParaRPr lang="en-US" sz="1100" dirty="0"/>
          </a:p>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Student ID: </a:t>
            </a:r>
            <a:endParaRPr lang="en-US" sz="1100" dirty="0"/>
          </a:p>
        </p:txBody>
      </p:sp>
      <p:pic>
        <p:nvPicPr>
          <p:cNvPr id="6" name="Picture 5">
            <a:extLst>
              <a:ext uri="{FF2B5EF4-FFF2-40B4-BE49-F238E27FC236}">
                <a16:creationId xmlns:a16="http://schemas.microsoft.com/office/drawing/2014/main" id="{6942FB9B-604B-2C27-A50A-7840C3976F84}"/>
              </a:ext>
            </a:extLst>
          </p:cNvPr>
          <p:cNvPicPr>
            <a:picLocks noChangeAspect="1"/>
          </p:cNvPicPr>
          <p:nvPr/>
        </p:nvPicPr>
        <p:blipFill>
          <a:blip r:embed="rId3"/>
          <a:stretch>
            <a:fillRect/>
          </a:stretch>
        </p:blipFill>
        <p:spPr>
          <a:xfrm>
            <a:off x="5151120" y="0"/>
            <a:ext cx="3992880" cy="5047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496119" y="397669"/>
            <a:ext cx="8151763" cy="429146"/>
          </a:xfrm>
          <a:prstGeom prst="rect">
            <a:avLst/>
          </a:prstGeom>
          <a:noFill/>
          <a:ln/>
        </p:spPr>
        <p:txBody>
          <a:bodyPr wrap="none" lIns="0" tIns="0" rIns="0" bIns="0" rtlCol="0" anchor="t"/>
          <a:lstStyle/>
          <a:p>
            <a:pPr marL="0" indent="0" algn="l">
              <a:lnSpc>
                <a:spcPct val="104000"/>
              </a:lnSpc>
              <a:buNone/>
            </a:pPr>
            <a:r>
              <a:rPr lang="en-US" sz="2700" b="1" dirty="0">
                <a:solidFill>
                  <a:srgbClr val="000000"/>
                </a:solidFill>
                <a:ea typeface="Calibri" panose="020F0502020204030204" pitchFamily="34" charset="0"/>
                <a:cs typeface="Calibri" panose="020F0502020204030204" pitchFamily="34" charset="0"/>
              </a:rPr>
              <a:t>Project Overview</a:t>
            </a:r>
            <a:endParaRPr lang="en-US" sz="2700" dirty="0"/>
          </a:p>
        </p:txBody>
      </p:sp>
      <p:pic>
        <p:nvPicPr>
          <p:cNvPr id="3" name="Image 0" descr="preencoded.png"/>
          <p:cNvPicPr>
            <a:picLocks noChangeAspect="1"/>
          </p:cNvPicPr>
          <p:nvPr/>
        </p:nvPicPr>
        <p:blipFill>
          <a:blip r:embed="rId3"/>
          <a:stretch>
            <a:fillRect/>
          </a:stretch>
        </p:blipFill>
        <p:spPr>
          <a:xfrm>
            <a:off x="496119" y="1585317"/>
            <a:ext cx="5181377" cy="2265462"/>
          </a:xfrm>
          <a:prstGeom prst="rect">
            <a:avLst/>
          </a:prstGeom>
        </p:spPr>
      </p:pic>
      <p:sp>
        <p:nvSpPr>
          <p:cNvPr id="4" name="Text 1"/>
          <p:cNvSpPr/>
          <p:nvPr/>
        </p:nvSpPr>
        <p:spPr>
          <a:xfrm>
            <a:off x="496119" y="4000426"/>
            <a:ext cx="5638577" cy="216322"/>
          </a:xfrm>
          <a:prstGeom prst="rect">
            <a:avLst/>
          </a:prstGeom>
          <a:noFill/>
          <a:ln/>
        </p:spPr>
        <p:txBody>
          <a:bodyPr wrap="none" lIns="0" tIns="0" rIns="0" bIns="0" rtlCol="0" anchor="t"/>
          <a:lstStyle/>
          <a:p>
            <a:pPr marL="0" indent="0" algn="l">
              <a:lnSpc>
                <a:spcPct val="131000"/>
              </a:lnSpc>
              <a:buNone/>
            </a:pPr>
            <a:endParaRPr lang="en-US" sz="1050" dirty="0"/>
          </a:p>
        </p:txBody>
      </p:sp>
      <p:sp>
        <p:nvSpPr>
          <p:cNvPr id="5" name="Text 2"/>
          <p:cNvSpPr/>
          <p:nvPr/>
        </p:nvSpPr>
        <p:spPr>
          <a:xfrm>
            <a:off x="6017270" y="1159297"/>
            <a:ext cx="2635300" cy="214536"/>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ea typeface="Calibri" panose="020F0502020204030204" pitchFamily="34" charset="0"/>
                <a:cs typeface="Calibri" panose="020F0502020204030204" pitchFamily="34" charset="0"/>
              </a:rPr>
              <a:t>Dataset at a Glance</a:t>
            </a:r>
            <a:endParaRPr lang="en-US" sz="1350" dirty="0"/>
          </a:p>
        </p:txBody>
      </p:sp>
      <p:sp>
        <p:nvSpPr>
          <p:cNvPr id="6" name="Text 3"/>
          <p:cNvSpPr/>
          <p:nvPr/>
        </p:nvSpPr>
        <p:spPr>
          <a:xfrm>
            <a:off x="6017270" y="1506810"/>
            <a:ext cx="2635300" cy="1321073"/>
          </a:xfrm>
          <a:prstGeom prst="rect">
            <a:avLst/>
          </a:prstGeom>
          <a:noFill/>
          <a:ln/>
        </p:spPr>
        <p:txBody>
          <a:bodyPr wrap="square" lIns="0" tIns="0" rIns="0" bIns="0" rtlCol="0" anchor="t">
            <a:normAutofit/>
          </a:bodyPr>
          <a:lstStyle/>
          <a:p>
            <a:pPr marL="0" indent="0" algn="l">
              <a:lnSpc>
                <a:spcPct val="131000"/>
              </a:lnSpc>
              <a:buNone/>
            </a:pPr>
            <a:r>
              <a:rPr lang="en-US" sz="1050" b="1" dirty="0">
                <a:solidFill>
                  <a:srgbClr val="272525"/>
                </a:solidFill>
                <a:ea typeface="Calibri" panose="020F0502020204030204" pitchFamily="34" charset="0"/>
                <a:cs typeface="Calibri" panose="020F0502020204030204" pitchFamily="34" charset="0"/>
              </a:rPr>
              <a:t>Source:</a:t>
            </a:r>
            <a:r>
              <a:rPr lang="en-US" sz="1050" dirty="0">
                <a:solidFill>
                  <a:srgbClr val="272525"/>
                </a:solidFill>
                <a:ea typeface="Calibri" panose="020F0502020204030204" pitchFamily="34" charset="0"/>
                <a:cs typeface="Calibri" panose="020F0502020204030204" pitchFamily="34" charset="0"/>
              </a:rPr>
              <a:t> Kaggle-Social Network Ads Dataset</a:t>
            </a:r>
            <a:endParaRPr lang="en-US" sz="1050" dirty="0"/>
          </a:p>
          <a:p>
            <a:pPr marL="0" indent="0" algn="l">
              <a:lnSpc>
                <a:spcPct val="131000"/>
              </a:lnSpc>
              <a:buNone/>
            </a:pPr>
            <a:r>
              <a:rPr lang="en-US" sz="1050" b="1" dirty="0">
                <a:solidFill>
                  <a:srgbClr val="272525"/>
                </a:solidFill>
                <a:ea typeface="Calibri" panose="020F0502020204030204" pitchFamily="34" charset="0"/>
                <a:cs typeface="Calibri" panose="020F0502020204030204" pitchFamily="34" charset="0"/>
              </a:rPr>
              <a:t>Size:</a:t>
            </a:r>
            <a:r>
              <a:rPr lang="en-US" sz="1050" dirty="0">
                <a:solidFill>
                  <a:srgbClr val="272525"/>
                </a:solidFill>
                <a:ea typeface="Calibri" panose="020F0502020204030204" pitchFamily="34" charset="0"/>
                <a:cs typeface="Calibri" panose="020F0502020204030204" pitchFamily="34" charset="0"/>
              </a:rPr>
              <a:t> 400 consumers across 3 columns</a:t>
            </a:r>
            <a:endParaRPr lang="en-US" sz="1050" dirty="0"/>
          </a:p>
          <a:p>
            <a:pPr marL="0" indent="0" algn="l">
              <a:lnSpc>
                <a:spcPct val="131000"/>
              </a:lnSpc>
              <a:buNone/>
            </a:pPr>
            <a:r>
              <a:rPr lang="en-US" sz="1050" b="1" dirty="0">
                <a:solidFill>
                  <a:srgbClr val="272525"/>
                </a:solidFill>
                <a:ea typeface="Calibri" panose="020F0502020204030204" pitchFamily="34" charset="0"/>
                <a:cs typeface="Calibri" panose="020F0502020204030204" pitchFamily="34" charset="0"/>
              </a:rPr>
              <a:t>Key Variables:</a:t>
            </a:r>
            <a:r>
              <a:rPr lang="en-US" sz="1050" dirty="0">
                <a:solidFill>
                  <a:srgbClr val="272525"/>
                </a:solidFill>
                <a:ea typeface="Calibri" panose="020F0502020204030204" pitchFamily="34" charset="0"/>
                <a:cs typeface="Calibri" panose="020F0502020204030204" pitchFamily="34" charset="0"/>
              </a:rPr>
              <a:t> Age, Estimated Salary, Purchased</a:t>
            </a:r>
            <a:endParaRPr lang="en-US" sz="1050" dirty="0"/>
          </a:p>
        </p:txBody>
      </p:sp>
      <p:sp>
        <p:nvSpPr>
          <p:cNvPr id="7" name="Text 4"/>
          <p:cNvSpPr/>
          <p:nvPr/>
        </p:nvSpPr>
        <p:spPr>
          <a:xfrm>
            <a:off x="6017270" y="2960861"/>
            <a:ext cx="2635300" cy="214536"/>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ea typeface="Calibri" panose="020F0502020204030204" pitchFamily="34" charset="0"/>
                <a:cs typeface="Calibri" panose="020F0502020204030204" pitchFamily="34" charset="0"/>
              </a:rPr>
              <a:t>Why This Dataset?</a:t>
            </a:r>
            <a:endParaRPr lang="en-US" sz="1350" dirty="0"/>
          </a:p>
        </p:txBody>
      </p:sp>
      <p:sp>
        <p:nvSpPr>
          <p:cNvPr id="8" name="Text 5"/>
          <p:cNvSpPr/>
          <p:nvPr/>
        </p:nvSpPr>
        <p:spPr>
          <a:xfrm>
            <a:off x="6017270" y="3308375"/>
            <a:ext cx="2635300" cy="1390948"/>
          </a:xfrm>
          <a:prstGeom prst="rect">
            <a:avLst/>
          </a:prstGeom>
          <a:noFill/>
          <a:ln/>
        </p:spPr>
        <p:txBody>
          <a:bodyPr wrap="square" lIns="0" tIns="0" rIns="0" bIns="0" rtlCol="0" anchor="t">
            <a:normAutofit/>
          </a:bodyPr>
          <a:lstStyle/>
          <a:p>
            <a:pPr marL="213360" indent="-213360" algn="l">
              <a:lnSpc>
                <a:spcPct val="131000"/>
              </a:lnSpc>
              <a:buSzPct val="100000"/>
              <a:buChar char="•"/>
            </a:pPr>
            <a:r>
              <a:rPr lang="en-US" sz="1050" dirty="0">
                <a:solidFill>
                  <a:srgbClr val="272525"/>
                </a:solidFill>
                <a:ea typeface="Calibri" panose="020F0502020204030204" pitchFamily="34" charset="0"/>
                <a:cs typeface="Calibri" panose="020F0502020204030204" pitchFamily="34" charset="0"/>
              </a:rPr>
              <a:t>Clean, well-structured data ready for analysis</a:t>
            </a:r>
            <a:endParaRPr lang="en-US" sz="1050" dirty="0"/>
          </a:p>
          <a:p>
            <a:pPr marL="213360" indent="-213360" algn="l">
              <a:lnSpc>
                <a:spcPct val="131000"/>
              </a:lnSpc>
              <a:buSzPct val="100000"/>
              <a:buChar char="•"/>
            </a:pPr>
            <a:r>
              <a:rPr lang="en-US" sz="1050" dirty="0">
                <a:solidFill>
                  <a:srgbClr val="272525"/>
                </a:solidFill>
                <a:ea typeface="Calibri" panose="020F0502020204030204" pitchFamily="34" charset="0"/>
                <a:cs typeface="Calibri" panose="020F0502020204030204" pitchFamily="34" charset="0"/>
              </a:rPr>
              <a:t>Distinct from NCHS or World Happiness datasets</a:t>
            </a:r>
            <a:endParaRPr lang="en-US" sz="1050" dirty="0"/>
          </a:p>
          <a:p>
            <a:pPr marL="213360" indent="-213360" algn="l">
              <a:lnSpc>
                <a:spcPct val="131000"/>
              </a:lnSpc>
              <a:buSzPct val="100000"/>
              <a:buChar char="•"/>
            </a:pPr>
            <a:r>
              <a:rPr lang="en-US" sz="1050" dirty="0">
                <a:solidFill>
                  <a:srgbClr val="272525"/>
                </a:solidFill>
                <a:ea typeface="Calibri" panose="020F0502020204030204" pitchFamily="34" charset="0"/>
                <a:cs typeface="Calibri" panose="020F0502020204030204" pitchFamily="34" charset="0"/>
              </a:rPr>
              <a:t>Meets all project requirements for statistical and visual analysis</a:t>
            </a:r>
            <a:endParaRPr lang="en-US" sz="105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496119" y="432271"/>
            <a:ext cx="8151763" cy="436066"/>
          </a:xfrm>
          <a:prstGeom prst="rect">
            <a:avLst/>
          </a:prstGeom>
          <a:noFill/>
          <a:ln/>
        </p:spPr>
        <p:txBody>
          <a:bodyPr wrap="none" lIns="0" tIns="0" rIns="0" bIns="0" rtlCol="0" anchor="t"/>
          <a:lstStyle/>
          <a:p>
            <a:pPr marL="0" indent="0" algn="l">
              <a:lnSpc>
                <a:spcPct val="104000"/>
              </a:lnSpc>
              <a:buNone/>
            </a:pPr>
            <a:r>
              <a:rPr lang="en-US" sz="2700" b="1" dirty="0">
                <a:solidFill>
                  <a:srgbClr val="000000"/>
                </a:solidFill>
                <a:ea typeface="Calibri" panose="020F0502020204030204" pitchFamily="34" charset="0"/>
                <a:cs typeface="Calibri" panose="020F0502020204030204" pitchFamily="34" charset="0"/>
              </a:rPr>
              <a:t>10 Analysis Questions</a:t>
            </a:r>
            <a:endParaRPr lang="en-US" sz="2700" dirty="0"/>
          </a:p>
        </p:txBody>
      </p:sp>
      <p:sp>
        <p:nvSpPr>
          <p:cNvPr id="3" name="Text 1"/>
          <p:cNvSpPr/>
          <p:nvPr/>
        </p:nvSpPr>
        <p:spPr>
          <a:xfrm>
            <a:off x="496119" y="1143074"/>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01</a:t>
            </a:r>
            <a:endParaRPr lang="en-US" sz="1050" dirty="0"/>
          </a:p>
        </p:txBody>
      </p:sp>
      <p:sp>
        <p:nvSpPr>
          <p:cNvPr id="4" name="Shape 2"/>
          <p:cNvSpPr/>
          <p:nvPr/>
        </p:nvSpPr>
        <p:spPr>
          <a:xfrm>
            <a:off x="496119" y="1361182"/>
            <a:ext cx="1934914" cy="19050"/>
          </a:xfrm>
          <a:prstGeom prst="rect">
            <a:avLst/>
          </a:prstGeom>
          <a:solidFill>
            <a:srgbClr val="4950BC"/>
          </a:solidFill>
          <a:ln/>
        </p:spPr>
      </p:sp>
      <p:sp>
        <p:nvSpPr>
          <p:cNvPr id="5" name="Text 3"/>
          <p:cNvSpPr/>
          <p:nvPr/>
        </p:nvSpPr>
        <p:spPr>
          <a:xfrm>
            <a:off x="496119" y="1469008"/>
            <a:ext cx="1934914"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Average age &amp; salary</a:t>
            </a:r>
            <a:endParaRPr lang="en-US" sz="1350" dirty="0"/>
          </a:p>
        </p:txBody>
      </p:sp>
      <p:sp>
        <p:nvSpPr>
          <p:cNvPr id="6" name="Text 4"/>
          <p:cNvSpPr/>
          <p:nvPr/>
        </p:nvSpPr>
        <p:spPr>
          <a:xfrm>
            <a:off x="496119" y="1769418"/>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Statistical summary</a:t>
            </a:r>
            <a:endParaRPr lang="en-US" sz="1050" dirty="0"/>
          </a:p>
        </p:txBody>
      </p:sp>
      <p:sp>
        <p:nvSpPr>
          <p:cNvPr id="7" name="Text 5"/>
          <p:cNvSpPr/>
          <p:nvPr/>
        </p:nvSpPr>
        <p:spPr>
          <a:xfrm>
            <a:off x="2568401" y="1143074"/>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02</a:t>
            </a:r>
            <a:endParaRPr lang="en-US" sz="1050" dirty="0"/>
          </a:p>
        </p:txBody>
      </p:sp>
      <p:sp>
        <p:nvSpPr>
          <p:cNvPr id="8" name="Shape 6"/>
          <p:cNvSpPr/>
          <p:nvPr/>
        </p:nvSpPr>
        <p:spPr>
          <a:xfrm>
            <a:off x="2568401" y="1361182"/>
            <a:ext cx="1934914" cy="19050"/>
          </a:xfrm>
          <a:prstGeom prst="rect">
            <a:avLst/>
          </a:prstGeom>
          <a:solidFill>
            <a:srgbClr val="4950BC"/>
          </a:solidFill>
          <a:ln/>
        </p:spPr>
      </p:sp>
      <p:sp>
        <p:nvSpPr>
          <p:cNvPr id="9" name="Text 7"/>
          <p:cNvSpPr/>
          <p:nvPr/>
        </p:nvSpPr>
        <p:spPr>
          <a:xfrm>
            <a:off x="2568401" y="1469008"/>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Age 30–50, Salary &gt;$50k, Purchased</a:t>
            </a:r>
            <a:endParaRPr lang="en-US" sz="1350" dirty="0"/>
          </a:p>
        </p:txBody>
      </p:sp>
      <p:sp>
        <p:nvSpPr>
          <p:cNvPr id="10" name="Text 8"/>
          <p:cNvSpPr/>
          <p:nvPr/>
        </p:nvSpPr>
        <p:spPr>
          <a:xfrm>
            <a:off x="2568401" y="1987451"/>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Filtering</a:t>
            </a:r>
            <a:endParaRPr lang="en-US" sz="1050" dirty="0"/>
          </a:p>
        </p:txBody>
      </p:sp>
      <p:sp>
        <p:nvSpPr>
          <p:cNvPr id="11" name="Text 9"/>
          <p:cNvSpPr/>
          <p:nvPr/>
        </p:nvSpPr>
        <p:spPr>
          <a:xfrm>
            <a:off x="4640684" y="1143074"/>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03</a:t>
            </a:r>
            <a:endParaRPr lang="en-US" sz="1050" dirty="0"/>
          </a:p>
        </p:txBody>
      </p:sp>
      <p:sp>
        <p:nvSpPr>
          <p:cNvPr id="12" name="Shape 10"/>
          <p:cNvSpPr/>
          <p:nvPr/>
        </p:nvSpPr>
        <p:spPr>
          <a:xfrm>
            <a:off x="4640684" y="1361182"/>
            <a:ext cx="1934914" cy="19050"/>
          </a:xfrm>
          <a:prstGeom prst="rect">
            <a:avLst/>
          </a:prstGeom>
          <a:solidFill>
            <a:srgbClr val="4950BC"/>
          </a:solidFill>
          <a:ln/>
        </p:spPr>
      </p:sp>
      <p:sp>
        <p:nvSpPr>
          <p:cNvPr id="13" name="Text 11"/>
          <p:cNvSpPr/>
          <p:nvPr/>
        </p:nvSpPr>
        <p:spPr>
          <a:xfrm>
            <a:off x="4640684" y="1469008"/>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Age 25–40, Salary &lt;$40k, Not Purchased</a:t>
            </a:r>
            <a:endParaRPr lang="en-US" sz="1350" dirty="0"/>
          </a:p>
        </p:txBody>
      </p:sp>
      <p:sp>
        <p:nvSpPr>
          <p:cNvPr id="14" name="Text 12"/>
          <p:cNvSpPr/>
          <p:nvPr/>
        </p:nvSpPr>
        <p:spPr>
          <a:xfrm>
            <a:off x="4640684" y="1987451"/>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Filtering</a:t>
            </a:r>
            <a:endParaRPr lang="en-US" sz="1050" dirty="0"/>
          </a:p>
        </p:txBody>
      </p:sp>
      <p:sp>
        <p:nvSpPr>
          <p:cNvPr id="15" name="Text 13"/>
          <p:cNvSpPr/>
          <p:nvPr/>
        </p:nvSpPr>
        <p:spPr>
          <a:xfrm>
            <a:off x="6712967" y="1143074"/>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04</a:t>
            </a:r>
            <a:endParaRPr lang="en-US" sz="1050" dirty="0"/>
          </a:p>
        </p:txBody>
      </p:sp>
      <p:sp>
        <p:nvSpPr>
          <p:cNvPr id="16" name="Shape 14"/>
          <p:cNvSpPr/>
          <p:nvPr/>
        </p:nvSpPr>
        <p:spPr>
          <a:xfrm>
            <a:off x="6712967" y="1361182"/>
            <a:ext cx="1934914" cy="19050"/>
          </a:xfrm>
          <a:prstGeom prst="rect">
            <a:avLst/>
          </a:prstGeom>
          <a:solidFill>
            <a:srgbClr val="4950BC"/>
          </a:solidFill>
          <a:ln/>
        </p:spPr>
      </p:sp>
      <p:sp>
        <p:nvSpPr>
          <p:cNvPr id="17" name="Text 15"/>
          <p:cNvSpPr/>
          <p:nvPr/>
        </p:nvSpPr>
        <p:spPr>
          <a:xfrm>
            <a:off x="6712967" y="1469008"/>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Purchase rate by age group</a:t>
            </a:r>
            <a:endParaRPr lang="en-US" sz="1350" dirty="0"/>
          </a:p>
        </p:txBody>
      </p:sp>
      <p:sp>
        <p:nvSpPr>
          <p:cNvPr id="18" name="Text 16"/>
          <p:cNvSpPr/>
          <p:nvPr/>
        </p:nvSpPr>
        <p:spPr>
          <a:xfrm>
            <a:off x="6712967" y="1987451"/>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Grouping</a:t>
            </a:r>
            <a:endParaRPr lang="en-US" sz="1050" dirty="0"/>
          </a:p>
        </p:txBody>
      </p:sp>
      <p:sp>
        <p:nvSpPr>
          <p:cNvPr id="19" name="Text 17"/>
          <p:cNvSpPr/>
          <p:nvPr/>
        </p:nvSpPr>
        <p:spPr>
          <a:xfrm>
            <a:off x="496119" y="2450902"/>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05</a:t>
            </a:r>
            <a:endParaRPr lang="en-US" sz="1050" dirty="0"/>
          </a:p>
        </p:txBody>
      </p:sp>
      <p:sp>
        <p:nvSpPr>
          <p:cNvPr id="20" name="Shape 18"/>
          <p:cNvSpPr/>
          <p:nvPr/>
        </p:nvSpPr>
        <p:spPr>
          <a:xfrm>
            <a:off x="496119" y="2669009"/>
            <a:ext cx="1934914" cy="19050"/>
          </a:xfrm>
          <a:prstGeom prst="rect">
            <a:avLst/>
          </a:prstGeom>
          <a:solidFill>
            <a:srgbClr val="4950BC"/>
          </a:solidFill>
          <a:ln/>
        </p:spPr>
      </p:sp>
      <p:sp>
        <p:nvSpPr>
          <p:cNvPr id="21" name="Text 19"/>
          <p:cNvSpPr/>
          <p:nvPr/>
        </p:nvSpPr>
        <p:spPr>
          <a:xfrm>
            <a:off x="496119" y="2776835"/>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Top 10 highest-paid purchasers</a:t>
            </a:r>
            <a:endParaRPr lang="en-US" sz="1350" dirty="0"/>
          </a:p>
        </p:txBody>
      </p:sp>
      <p:sp>
        <p:nvSpPr>
          <p:cNvPr id="22" name="Text 20"/>
          <p:cNvSpPr/>
          <p:nvPr/>
        </p:nvSpPr>
        <p:spPr>
          <a:xfrm>
            <a:off x="496119" y="3295278"/>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Sorting</a:t>
            </a:r>
            <a:endParaRPr lang="en-US" sz="1050" dirty="0"/>
          </a:p>
        </p:txBody>
      </p:sp>
      <p:sp>
        <p:nvSpPr>
          <p:cNvPr id="23" name="Text 21"/>
          <p:cNvSpPr/>
          <p:nvPr/>
        </p:nvSpPr>
        <p:spPr>
          <a:xfrm>
            <a:off x="2568401" y="2450902"/>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06</a:t>
            </a:r>
            <a:endParaRPr lang="en-US" sz="1050" dirty="0"/>
          </a:p>
        </p:txBody>
      </p:sp>
      <p:sp>
        <p:nvSpPr>
          <p:cNvPr id="24" name="Shape 22"/>
          <p:cNvSpPr/>
          <p:nvPr/>
        </p:nvSpPr>
        <p:spPr>
          <a:xfrm>
            <a:off x="2568401" y="2669009"/>
            <a:ext cx="1934914" cy="19050"/>
          </a:xfrm>
          <a:prstGeom prst="rect">
            <a:avLst/>
          </a:prstGeom>
          <a:solidFill>
            <a:srgbClr val="4950BC"/>
          </a:solidFill>
          <a:ln/>
        </p:spPr>
      </p:sp>
      <p:sp>
        <p:nvSpPr>
          <p:cNvPr id="25" name="Text 23"/>
          <p:cNvSpPr/>
          <p:nvPr/>
        </p:nvSpPr>
        <p:spPr>
          <a:xfrm>
            <a:off x="2568401" y="2776835"/>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Age group purchase rates (high → low)</a:t>
            </a:r>
            <a:endParaRPr lang="en-US" sz="1350" dirty="0"/>
          </a:p>
        </p:txBody>
      </p:sp>
      <p:sp>
        <p:nvSpPr>
          <p:cNvPr id="26" name="Text 24"/>
          <p:cNvSpPr/>
          <p:nvPr/>
        </p:nvSpPr>
        <p:spPr>
          <a:xfrm>
            <a:off x="2568401" y="3295278"/>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Grouping + Sorting</a:t>
            </a:r>
            <a:endParaRPr lang="en-US" sz="1050" dirty="0"/>
          </a:p>
        </p:txBody>
      </p:sp>
      <p:sp>
        <p:nvSpPr>
          <p:cNvPr id="27" name="Text 25"/>
          <p:cNvSpPr/>
          <p:nvPr/>
        </p:nvSpPr>
        <p:spPr>
          <a:xfrm>
            <a:off x="4640684" y="2450902"/>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07</a:t>
            </a:r>
            <a:endParaRPr lang="en-US" sz="1050" dirty="0"/>
          </a:p>
        </p:txBody>
      </p:sp>
      <p:sp>
        <p:nvSpPr>
          <p:cNvPr id="28" name="Shape 26"/>
          <p:cNvSpPr/>
          <p:nvPr/>
        </p:nvSpPr>
        <p:spPr>
          <a:xfrm>
            <a:off x="4640684" y="2669009"/>
            <a:ext cx="1934914" cy="19050"/>
          </a:xfrm>
          <a:prstGeom prst="rect">
            <a:avLst/>
          </a:prstGeom>
          <a:solidFill>
            <a:srgbClr val="4950BC"/>
          </a:solidFill>
          <a:ln/>
        </p:spPr>
      </p:sp>
      <p:sp>
        <p:nvSpPr>
          <p:cNvPr id="29" name="Text 27"/>
          <p:cNvSpPr/>
          <p:nvPr/>
        </p:nvSpPr>
        <p:spPr>
          <a:xfrm>
            <a:off x="4640684" y="2776835"/>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Purchasers vs non-purchasers</a:t>
            </a:r>
            <a:endParaRPr lang="en-US" sz="1350" dirty="0"/>
          </a:p>
        </p:txBody>
      </p:sp>
      <p:sp>
        <p:nvSpPr>
          <p:cNvPr id="30" name="Text 28"/>
          <p:cNvSpPr/>
          <p:nvPr/>
        </p:nvSpPr>
        <p:spPr>
          <a:xfrm>
            <a:off x="4640684" y="3295278"/>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Grouping + Stats</a:t>
            </a:r>
            <a:endParaRPr lang="en-US" sz="1050" dirty="0"/>
          </a:p>
        </p:txBody>
      </p:sp>
      <p:sp>
        <p:nvSpPr>
          <p:cNvPr id="31" name="Text 29"/>
          <p:cNvSpPr/>
          <p:nvPr/>
        </p:nvSpPr>
        <p:spPr>
          <a:xfrm>
            <a:off x="6712967" y="2450902"/>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08</a:t>
            </a:r>
            <a:endParaRPr lang="en-US" sz="1050" dirty="0"/>
          </a:p>
        </p:txBody>
      </p:sp>
      <p:sp>
        <p:nvSpPr>
          <p:cNvPr id="32" name="Shape 30"/>
          <p:cNvSpPr/>
          <p:nvPr/>
        </p:nvSpPr>
        <p:spPr>
          <a:xfrm>
            <a:off x="6712967" y="2669009"/>
            <a:ext cx="1934914" cy="19050"/>
          </a:xfrm>
          <a:prstGeom prst="rect">
            <a:avLst/>
          </a:prstGeom>
          <a:solidFill>
            <a:srgbClr val="4950BC"/>
          </a:solidFill>
          <a:ln/>
        </p:spPr>
      </p:sp>
      <p:sp>
        <p:nvSpPr>
          <p:cNvPr id="33" name="Text 31"/>
          <p:cNvSpPr/>
          <p:nvPr/>
        </p:nvSpPr>
        <p:spPr>
          <a:xfrm>
            <a:off x="6712967" y="2776835"/>
            <a:ext cx="1934914" cy="436066"/>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Bar chart - Purchase by age group</a:t>
            </a:r>
            <a:endParaRPr lang="en-US" sz="1350" dirty="0"/>
          </a:p>
        </p:txBody>
      </p:sp>
      <p:sp>
        <p:nvSpPr>
          <p:cNvPr id="34" name="Text 32"/>
          <p:cNvSpPr/>
          <p:nvPr/>
        </p:nvSpPr>
        <p:spPr>
          <a:xfrm>
            <a:off x="6712967" y="3295278"/>
            <a:ext cx="1934914"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Visualization</a:t>
            </a:r>
            <a:endParaRPr lang="en-US" sz="1050" dirty="0"/>
          </a:p>
        </p:txBody>
      </p:sp>
      <p:sp>
        <p:nvSpPr>
          <p:cNvPr id="35" name="Text 33"/>
          <p:cNvSpPr/>
          <p:nvPr/>
        </p:nvSpPr>
        <p:spPr>
          <a:xfrm>
            <a:off x="496119" y="3758729"/>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09</a:t>
            </a:r>
            <a:endParaRPr lang="en-US" sz="1050" dirty="0"/>
          </a:p>
        </p:txBody>
      </p:sp>
      <p:sp>
        <p:nvSpPr>
          <p:cNvPr id="36" name="Shape 34"/>
          <p:cNvSpPr/>
          <p:nvPr/>
        </p:nvSpPr>
        <p:spPr>
          <a:xfrm>
            <a:off x="496119" y="3976836"/>
            <a:ext cx="4007197" cy="19050"/>
          </a:xfrm>
          <a:prstGeom prst="rect">
            <a:avLst/>
          </a:prstGeom>
          <a:solidFill>
            <a:srgbClr val="4950BC"/>
          </a:solidFill>
          <a:ln/>
        </p:spPr>
      </p:sp>
      <p:sp>
        <p:nvSpPr>
          <p:cNvPr id="37" name="Text 35"/>
          <p:cNvSpPr/>
          <p:nvPr/>
        </p:nvSpPr>
        <p:spPr>
          <a:xfrm>
            <a:off x="496119" y="4084662"/>
            <a:ext cx="4007197"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Pie chart — Age distribution</a:t>
            </a:r>
            <a:endParaRPr lang="en-US" sz="1350" dirty="0"/>
          </a:p>
        </p:txBody>
      </p:sp>
      <p:sp>
        <p:nvSpPr>
          <p:cNvPr id="38" name="Text 36"/>
          <p:cNvSpPr/>
          <p:nvPr/>
        </p:nvSpPr>
        <p:spPr>
          <a:xfrm>
            <a:off x="496119" y="4385072"/>
            <a:ext cx="4007197"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Visualization</a:t>
            </a:r>
            <a:endParaRPr lang="en-US" sz="1050" dirty="0"/>
          </a:p>
        </p:txBody>
      </p:sp>
      <p:sp>
        <p:nvSpPr>
          <p:cNvPr id="39" name="Text 37"/>
          <p:cNvSpPr/>
          <p:nvPr/>
        </p:nvSpPr>
        <p:spPr>
          <a:xfrm>
            <a:off x="4640684" y="3758729"/>
            <a:ext cx="279053" cy="174427"/>
          </a:xfrm>
          <a:prstGeom prst="rect">
            <a:avLst/>
          </a:prstGeom>
          <a:noFill/>
          <a:ln/>
        </p:spPr>
        <p:txBody>
          <a:bodyPr wrap="none" lIns="0" tIns="0" rIns="0" bIns="0" rtlCol="0" anchor="ctr"/>
          <a:lstStyle/>
          <a:p>
            <a:pPr marL="0" indent="0" algn="l">
              <a:lnSpc>
                <a:spcPct val="100000"/>
              </a:lnSpc>
              <a:buNone/>
            </a:pPr>
            <a:r>
              <a:rPr lang="en-US" sz="1050" dirty="0">
                <a:solidFill>
                  <a:srgbClr val="272525"/>
                </a:solidFill>
                <a:ea typeface="Calibri" panose="020F0502020204030204" pitchFamily="34" charset="0"/>
                <a:cs typeface="Calibri" panose="020F0502020204030204" pitchFamily="34" charset="0"/>
              </a:rPr>
              <a:t>10</a:t>
            </a:r>
            <a:endParaRPr lang="en-US" sz="1050" dirty="0"/>
          </a:p>
        </p:txBody>
      </p:sp>
      <p:sp>
        <p:nvSpPr>
          <p:cNvPr id="40" name="Shape 38"/>
          <p:cNvSpPr/>
          <p:nvPr/>
        </p:nvSpPr>
        <p:spPr>
          <a:xfrm>
            <a:off x="4640684" y="3976836"/>
            <a:ext cx="4007197" cy="19050"/>
          </a:xfrm>
          <a:prstGeom prst="rect">
            <a:avLst/>
          </a:prstGeom>
          <a:solidFill>
            <a:srgbClr val="4950BC"/>
          </a:solidFill>
          <a:ln/>
        </p:spPr>
      </p:sp>
      <p:sp>
        <p:nvSpPr>
          <p:cNvPr id="41" name="Text 39"/>
          <p:cNvSpPr/>
          <p:nvPr/>
        </p:nvSpPr>
        <p:spPr>
          <a:xfrm>
            <a:off x="4640684" y="4084662"/>
            <a:ext cx="4007197" cy="218033"/>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Scatter plot - Age vs Salary by status</a:t>
            </a:r>
            <a:endParaRPr lang="en-US" sz="1350" dirty="0"/>
          </a:p>
        </p:txBody>
      </p:sp>
      <p:sp>
        <p:nvSpPr>
          <p:cNvPr id="42" name="Text 40"/>
          <p:cNvSpPr/>
          <p:nvPr/>
        </p:nvSpPr>
        <p:spPr>
          <a:xfrm>
            <a:off x="4640684" y="4385072"/>
            <a:ext cx="4007197" cy="221456"/>
          </a:xfrm>
          <a:prstGeom prst="rect">
            <a:avLst/>
          </a:prstGeom>
          <a:noFill/>
          <a:ln/>
        </p:spPr>
        <p:txBody>
          <a:bodyPr wrap="none" lIns="0" tIns="0" rIns="0" bIns="0" rtlCol="0" anchor="t"/>
          <a:lstStyle/>
          <a:p>
            <a:pPr marL="0" indent="0" algn="l">
              <a:lnSpc>
                <a:spcPct val="132000"/>
              </a:lnSpc>
              <a:buNone/>
            </a:pPr>
            <a:r>
              <a:rPr lang="en-US" sz="1050" dirty="0">
                <a:solidFill>
                  <a:srgbClr val="272525"/>
                </a:solidFill>
                <a:ea typeface="Calibri" panose="020F0502020204030204" pitchFamily="34" charset="0"/>
                <a:cs typeface="Calibri" panose="020F0502020204030204" pitchFamily="34" charset="0"/>
              </a:rPr>
              <a:t>Visualization</a:t>
            </a:r>
            <a:endParaRPr lang="en-US" sz="105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496119" y="392088"/>
            <a:ext cx="8151763" cy="422300"/>
          </a:xfrm>
          <a:prstGeom prst="rect">
            <a:avLst/>
          </a:prstGeom>
          <a:noFill/>
          <a:ln/>
        </p:spPr>
        <p:txBody>
          <a:bodyPr wrap="none" lIns="0" tIns="0" rIns="0" bIns="0" rtlCol="0" anchor="t"/>
          <a:lstStyle/>
          <a:p>
            <a:pPr marL="0" indent="0" algn="l">
              <a:lnSpc>
                <a:spcPct val="104000"/>
              </a:lnSpc>
              <a:buNone/>
            </a:pPr>
            <a:r>
              <a:rPr lang="en-US" sz="2650" b="1" dirty="0">
                <a:solidFill>
                  <a:srgbClr val="000000"/>
                </a:solidFill>
                <a:ea typeface="Calibri" panose="020F0502020204030204" pitchFamily="34" charset="0"/>
                <a:cs typeface="Calibri" panose="020F0502020204030204" pitchFamily="34" charset="0"/>
              </a:rPr>
              <a:t>Data Loading &amp; Cleaning</a:t>
            </a:r>
            <a:endParaRPr lang="en-US" sz="2650" dirty="0"/>
          </a:p>
        </p:txBody>
      </p:sp>
      <p:pic>
        <p:nvPicPr>
          <p:cNvPr id="3" name="Image 0" descr="preencoded.png"/>
          <p:cNvPicPr>
            <a:picLocks noChangeAspect="1"/>
          </p:cNvPicPr>
          <p:nvPr/>
        </p:nvPicPr>
        <p:blipFill>
          <a:blip r:embed="rId3"/>
          <a:stretch>
            <a:fillRect/>
          </a:stretch>
        </p:blipFill>
        <p:spPr>
          <a:xfrm>
            <a:off x="1402407" y="1071935"/>
            <a:ext cx="6339185" cy="2901255"/>
          </a:xfrm>
          <a:prstGeom prst="rect">
            <a:avLst/>
          </a:prstGeom>
        </p:spPr>
      </p:pic>
      <p:sp>
        <p:nvSpPr>
          <p:cNvPr id="4" name="Text 1"/>
          <p:cNvSpPr/>
          <p:nvPr/>
        </p:nvSpPr>
        <p:spPr>
          <a:xfrm>
            <a:off x="6256361" y="3169600"/>
            <a:ext cx="1190142" cy="45853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272525"/>
                </a:solidFill>
                <a:ea typeface="Calibri" panose="020F0502020204030204" pitchFamily="34" charset="0"/>
                <a:cs typeface="Calibri" panose="020F0502020204030204" pitchFamily="34" charset="0"/>
              </a:rPr>
              <a:t>Handle Duplicates</a:t>
            </a:r>
            <a:endParaRPr lang="en-US" sz="1400" dirty="0"/>
          </a:p>
        </p:txBody>
      </p:sp>
      <p:sp>
        <p:nvSpPr>
          <p:cNvPr id="5" name="Text 2"/>
          <p:cNvSpPr/>
          <p:nvPr/>
        </p:nvSpPr>
        <p:spPr>
          <a:xfrm>
            <a:off x="4756456" y="3169600"/>
            <a:ext cx="1190143" cy="45853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272525"/>
                </a:solidFill>
                <a:ea typeface="Calibri" panose="020F0502020204030204" pitchFamily="34" charset="0"/>
                <a:cs typeface="Calibri" panose="020F0502020204030204" pitchFamily="34" charset="0"/>
              </a:rPr>
              <a:t>Validate Types</a:t>
            </a:r>
            <a:endParaRPr lang="en-US" sz="1400" dirty="0"/>
          </a:p>
        </p:txBody>
      </p:sp>
      <p:sp>
        <p:nvSpPr>
          <p:cNvPr id="6" name="Text 3"/>
          <p:cNvSpPr/>
          <p:nvPr/>
        </p:nvSpPr>
        <p:spPr>
          <a:xfrm>
            <a:off x="3264702" y="3169600"/>
            <a:ext cx="1190142" cy="45853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272525"/>
                </a:solidFill>
                <a:ea typeface="Calibri" panose="020F0502020204030204" pitchFamily="34" charset="0"/>
                <a:cs typeface="Calibri" panose="020F0502020204030204" pitchFamily="34" charset="0"/>
              </a:rPr>
              <a:t>Check Missing</a:t>
            </a:r>
            <a:endParaRPr lang="en-US" sz="1400" dirty="0"/>
          </a:p>
        </p:txBody>
      </p:sp>
      <p:sp>
        <p:nvSpPr>
          <p:cNvPr id="7" name="Text 4"/>
          <p:cNvSpPr/>
          <p:nvPr/>
        </p:nvSpPr>
        <p:spPr>
          <a:xfrm>
            <a:off x="1740341" y="3284233"/>
            <a:ext cx="1190142" cy="229265"/>
          </a:xfrm>
          <a:prstGeom prst="rect">
            <a:avLst/>
          </a:prstGeom>
          <a:noFill/>
          <a:ln/>
        </p:spPr>
        <p:txBody>
          <a:bodyPr wrap="none" lIns="0" tIns="0" rIns="0" bIns="0" rtlCol="0" anchor="t"/>
          <a:lstStyle/>
          <a:p>
            <a:pPr marL="0" indent="0" algn="ctr">
              <a:lnSpc>
                <a:spcPct val="104000"/>
              </a:lnSpc>
              <a:buNone/>
            </a:pPr>
            <a:r>
              <a:rPr lang="en-US" sz="1400" b="1" dirty="0">
                <a:solidFill>
                  <a:srgbClr val="272525"/>
                </a:solidFill>
                <a:ea typeface="Calibri" panose="020F0502020204030204" pitchFamily="34" charset="0"/>
                <a:cs typeface="Calibri" panose="020F0502020204030204" pitchFamily="34" charset="0"/>
              </a:rPr>
              <a:t>Load Data</a:t>
            </a:r>
            <a:endParaRPr lang="en-US" sz="1400" dirty="0"/>
          </a:p>
        </p:txBody>
      </p:sp>
      <p:sp>
        <p:nvSpPr>
          <p:cNvPr id="8" name="Text 5"/>
          <p:cNvSpPr/>
          <p:nvPr/>
        </p:nvSpPr>
        <p:spPr>
          <a:xfrm>
            <a:off x="496119" y="4118074"/>
            <a:ext cx="8151763" cy="633338"/>
          </a:xfrm>
          <a:prstGeom prst="rect">
            <a:avLst/>
          </a:prstGeom>
          <a:noFill/>
          <a:ln/>
        </p:spPr>
        <p:txBody>
          <a:bodyPr wrap="square" lIns="0" tIns="0" rIns="0" bIns="0" rtlCol="0" anchor="t">
            <a:normAutofit/>
          </a:bodyPr>
          <a:lstStyle/>
          <a:p>
            <a:pPr marL="0" indent="0" algn="just">
              <a:lnSpc>
                <a:spcPct val="130000"/>
              </a:lnSpc>
              <a:buNone/>
            </a:pPr>
            <a:r>
              <a:rPr lang="en-US" sz="1050" dirty="0">
                <a:solidFill>
                  <a:srgbClr val="272525"/>
                </a:solidFill>
                <a:ea typeface="Calibri" panose="020F0502020204030204" pitchFamily="34" charset="0"/>
                <a:cs typeface="Calibri" panose="020F0502020204030204" pitchFamily="34" charset="0"/>
              </a:rPr>
              <a:t>The dataset loaded successfully with 400 rows. No missing values were detected, all data types were correct (int64), and 33 duplicate records were identified but retained as they reflect realistic consumer behavior. The data is clean and ready for analysis.</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496119" y="628650"/>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ea typeface="Calibri" panose="020F0502020204030204" pitchFamily="34" charset="0"/>
                <a:cs typeface="Calibri" panose="020F0502020204030204" pitchFamily="34" charset="0"/>
              </a:rPr>
              <a:t>Age Group Analysis Results</a:t>
            </a:r>
            <a:endParaRPr lang="en-US" sz="2750" dirty="0"/>
          </a:p>
        </p:txBody>
      </p:sp>
      <p:pic>
        <p:nvPicPr>
          <p:cNvPr id="3" name="Image 0" descr="preencoded.png"/>
          <p:cNvPicPr>
            <a:picLocks noChangeAspect="1"/>
          </p:cNvPicPr>
          <p:nvPr/>
        </p:nvPicPr>
        <p:blipFill>
          <a:blip r:embed="rId3"/>
          <a:stretch>
            <a:fillRect/>
          </a:stretch>
        </p:blipFill>
        <p:spPr>
          <a:xfrm>
            <a:off x="496119" y="1443707"/>
            <a:ext cx="3902943" cy="2911673"/>
          </a:xfrm>
          <a:prstGeom prst="rect">
            <a:avLst/>
          </a:prstGeom>
        </p:spPr>
      </p:pic>
      <p:sp>
        <p:nvSpPr>
          <p:cNvPr id="4" name="Text 1"/>
          <p:cNvSpPr/>
          <p:nvPr/>
        </p:nvSpPr>
        <p:spPr>
          <a:xfrm>
            <a:off x="4749701" y="1425997"/>
            <a:ext cx="3902943" cy="221456"/>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ea typeface="Calibri" panose="020F0502020204030204" pitchFamily="34" charset="0"/>
                <a:cs typeface="Calibri" panose="020F0502020204030204" pitchFamily="34" charset="0"/>
              </a:rPr>
              <a:t>Key Insight</a:t>
            </a:r>
            <a:endParaRPr lang="en-US" sz="1350" dirty="0"/>
          </a:p>
        </p:txBody>
      </p:sp>
      <p:sp>
        <p:nvSpPr>
          <p:cNvPr id="5" name="Text 2"/>
          <p:cNvSpPr/>
          <p:nvPr/>
        </p:nvSpPr>
        <p:spPr>
          <a:xfrm>
            <a:off x="4749701" y="1789212"/>
            <a:ext cx="390294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Purchase likelihood rises sharply with age. Consumers aged </a:t>
            </a:r>
            <a:r>
              <a:rPr lang="en-US" sz="1100" b="1" dirty="0">
                <a:solidFill>
                  <a:srgbClr val="272525"/>
                </a:solidFill>
                <a:ea typeface="Calibri" panose="020F0502020204030204" pitchFamily="34" charset="0"/>
                <a:cs typeface="Calibri" panose="020F0502020204030204" pitchFamily="34" charset="0"/>
              </a:rPr>
              <a:t>50+</a:t>
            </a:r>
            <a:r>
              <a:rPr lang="en-US" sz="1100" dirty="0">
                <a:solidFill>
                  <a:srgbClr val="272525"/>
                </a:solidFill>
                <a:ea typeface="Calibri" panose="020F0502020204030204" pitchFamily="34" charset="0"/>
                <a:cs typeface="Calibri" panose="020F0502020204030204" pitchFamily="34" charset="0"/>
              </a:rPr>
              <a:t> have a </a:t>
            </a:r>
            <a:r>
              <a:rPr lang="en-US" sz="1100" b="1" dirty="0">
                <a:solidFill>
                  <a:srgbClr val="272525"/>
                </a:solidFill>
                <a:ea typeface="Calibri" panose="020F0502020204030204" pitchFamily="34" charset="0"/>
                <a:cs typeface="Calibri" panose="020F0502020204030204" pitchFamily="34" charset="0"/>
              </a:rPr>
              <a:t>91.8%</a:t>
            </a:r>
            <a:r>
              <a:rPr lang="en-US" sz="1100" dirty="0">
                <a:solidFill>
                  <a:srgbClr val="272525"/>
                </a:solidFill>
                <a:ea typeface="Calibri" panose="020F0502020204030204" pitchFamily="34" charset="0"/>
                <a:cs typeface="Calibri" panose="020F0502020204030204" pitchFamily="34" charset="0"/>
              </a:rPr>
              <a:t> purchase rate nearly 14× higher than those in their 30s.</a:t>
            </a:r>
            <a:endParaRPr lang="en-US" sz="1100" dirty="0"/>
          </a:p>
        </p:txBody>
      </p:sp>
      <p:sp>
        <p:nvSpPr>
          <p:cNvPr id="6" name="Shape 3"/>
          <p:cNvSpPr/>
          <p:nvPr/>
        </p:nvSpPr>
        <p:spPr>
          <a:xfrm>
            <a:off x="4749701" y="2629123"/>
            <a:ext cx="3902943" cy="1006376"/>
          </a:xfrm>
          <a:prstGeom prst="roundRect">
            <a:avLst>
              <a:gd name="adj" fmla="val 5917"/>
            </a:avLst>
          </a:prstGeom>
          <a:solidFill>
            <a:srgbClr val="DADBF1"/>
          </a:solidFill>
          <a:ln/>
        </p:spPr>
      </p:sp>
      <p:pic>
        <p:nvPicPr>
          <p:cNvPr id="7" name="Image 1" descr="preencoded.png"/>
          <p:cNvPicPr>
            <a:picLocks noChangeAspect="1"/>
          </p:cNvPicPr>
          <p:nvPr/>
        </p:nvPicPr>
        <p:blipFill>
          <a:blip r:embed="rId4"/>
          <a:stretch>
            <a:fillRect/>
          </a:stretch>
        </p:blipFill>
        <p:spPr>
          <a:xfrm>
            <a:off x="4891460" y="2844180"/>
            <a:ext cx="177180" cy="141759"/>
          </a:xfrm>
          <a:prstGeom prst="rect">
            <a:avLst/>
          </a:prstGeom>
        </p:spPr>
      </p:pic>
      <p:sp>
        <p:nvSpPr>
          <p:cNvPr id="8" name="Text 4"/>
          <p:cNvSpPr/>
          <p:nvPr/>
        </p:nvSpPr>
        <p:spPr>
          <a:xfrm>
            <a:off x="5210398" y="2792090"/>
            <a:ext cx="3300487" cy="680442"/>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000000"/>
                </a:solidFill>
                <a:ea typeface="Calibri" panose="020F0502020204030204" pitchFamily="34" charset="0"/>
                <a:cs typeface="Calibri" panose="020F0502020204030204" pitchFamily="34" charset="0"/>
              </a:rPr>
              <a:t>Marketing implication:</a:t>
            </a:r>
            <a:r>
              <a:rPr lang="en-US" sz="1100" dirty="0">
                <a:solidFill>
                  <a:srgbClr val="000000"/>
                </a:solidFill>
                <a:ea typeface="Calibri" panose="020F0502020204030204" pitchFamily="34" charset="0"/>
                <a:cs typeface="Calibri" panose="020F0502020204030204" pitchFamily="34" charset="0"/>
              </a:rPr>
              <a:t> Campaigns targeting the 40+ demographic are likely to deliver the highest conversion rates.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96119" y="420588"/>
            <a:ext cx="8151763" cy="394543"/>
          </a:xfrm>
          <a:prstGeom prst="rect">
            <a:avLst/>
          </a:prstGeom>
          <a:noFill/>
          <a:ln/>
        </p:spPr>
        <p:txBody>
          <a:bodyPr wrap="none" lIns="0" tIns="0" rIns="0" bIns="0" rtlCol="0" anchor="t"/>
          <a:lstStyle/>
          <a:p>
            <a:pPr marL="0" indent="0" algn="l">
              <a:lnSpc>
                <a:spcPct val="104000"/>
              </a:lnSpc>
              <a:buNone/>
            </a:pPr>
            <a:r>
              <a:rPr lang="en-US" sz="2450" b="1" dirty="0">
                <a:solidFill>
                  <a:srgbClr val="000000"/>
                </a:solidFill>
                <a:ea typeface="Calibri" panose="020F0502020204030204" pitchFamily="34" charset="0"/>
                <a:cs typeface="Calibri" panose="020F0502020204030204" pitchFamily="34" charset="0"/>
              </a:rPr>
              <a:t>Buyer Profile Comparison</a:t>
            </a:r>
            <a:endParaRPr lang="en-US" sz="2450" dirty="0"/>
          </a:p>
        </p:txBody>
      </p:sp>
      <p:pic>
        <p:nvPicPr>
          <p:cNvPr id="3" name="Image 0" descr="preencoded.png"/>
          <p:cNvPicPr>
            <a:picLocks noChangeAspect="1"/>
          </p:cNvPicPr>
          <p:nvPr/>
        </p:nvPicPr>
        <p:blipFill>
          <a:blip r:embed="rId3"/>
          <a:stretch>
            <a:fillRect/>
          </a:stretch>
        </p:blipFill>
        <p:spPr>
          <a:xfrm>
            <a:off x="491356" y="1174474"/>
            <a:ext cx="3801561" cy="3407869"/>
          </a:xfrm>
          <a:prstGeom prst="rect">
            <a:avLst/>
          </a:prstGeom>
        </p:spPr>
      </p:pic>
      <p:sp>
        <p:nvSpPr>
          <p:cNvPr id="4" name="Text 1"/>
          <p:cNvSpPr/>
          <p:nvPr/>
        </p:nvSpPr>
        <p:spPr>
          <a:xfrm>
            <a:off x="4730800" y="1096194"/>
            <a:ext cx="3921844" cy="197272"/>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ea typeface="Calibri" panose="020F0502020204030204" pitchFamily="34" charset="0"/>
                <a:cs typeface="Calibri" panose="020F0502020204030204" pitchFamily="34" charset="0"/>
              </a:rPr>
              <a:t>What the Data Reveals</a:t>
            </a:r>
            <a:endParaRPr lang="en-US" sz="1200" dirty="0"/>
          </a:p>
        </p:txBody>
      </p:sp>
      <p:sp>
        <p:nvSpPr>
          <p:cNvPr id="5" name="Text 2"/>
          <p:cNvSpPr/>
          <p:nvPr/>
        </p:nvSpPr>
        <p:spPr>
          <a:xfrm>
            <a:off x="4730800" y="1405905"/>
            <a:ext cx="3921844" cy="986775"/>
          </a:xfrm>
          <a:prstGeom prst="rect">
            <a:avLst/>
          </a:prstGeom>
          <a:noFill/>
          <a:ln/>
        </p:spPr>
        <p:txBody>
          <a:bodyPr wrap="square" lIns="0" tIns="0" rIns="0" bIns="0" rtlCol="0" anchor="t">
            <a:noAutofit/>
          </a:bodyPr>
          <a:lstStyle/>
          <a:p>
            <a:pPr marL="0" indent="0" algn="l">
              <a:lnSpc>
                <a:spcPct val="126000"/>
              </a:lnSpc>
              <a:buNone/>
            </a:pPr>
            <a:r>
              <a:rPr lang="en-US" sz="1100" dirty="0">
                <a:solidFill>
                  <a:srgbClr val="272525"/>
                </a:solidFill>
                <a:ea typeface="Calibri" panose="020F0502020204030204" pitchFamily="34" charset="0"/>
                <a:cs typeface="Calibri" panose="020F0502020204030204" pitchFamily="34" charset="0"/>
              </a:rPr>
              <a:t>Purchasers are consistently </a:t>
            </a:r>
            <a:r>
              <a:rPr lang="en-US" sz="1100" b="1" dirty="0">
                <a:solidFill>
                  <a:srgbClr val="272525"/>
                </a:solidFill>
                <a:ea typeface="Calibri" panose="020F0502020204030204" pitchFamily="34" charset="0"/>
                <a:cs typeface="Calibri" panose="020F0502020204030204" pitchFamily="34" charset="0"/>
              </a:rPr>
              <a:t>older</a:t>
            </a:r>
            <a:r>
              <a:rPr lang="en-US" sz="1100" dirty="0">
                <a:solidFill>
                  <a:srgbClr val="272525"/>
                </a:solidFill>
                <a:ea typeface="Calibri" panose="020F0502020204030204" pitchFamily="34" charset="0"/>
                <a:cs typeface="Calibri" panose="020F0502020204030204" pitchFamily="34" charset="0"/>
              </a:rPr>
              <a:t> and earn </a:t>
            </a:r>
            <a:r>
              <a:rPr lang="en-US" sz="1100" b="1" dirty="0">
                <a:solidFill>
                  <a:srgbClr val="272525"/>
                </a:solidFill>
                <a:ea typeface="Calibri" panose="020F0502020204030204" pitchFamily="34" charset="0"/>
                <a:cs typeface="Calibri" panose="020F0502020204030204" pitchFamily="34" charset="0"/>
              </a:rPr>
              <a:t>significantly more</a:t>
            </a:r>
            <a:r>
              <a:rPr lang="en-US" sz="1100" dirty="0">
                <a:solidFill>
                  <a:srgbClr val="272525"/>
                </a:solidFill>
                <a:ea typeface="Calibri" panose="020F0502020204030204" pitchFamily="34" charset="0"/>
                <a:cs typeface="Calibri" panose="020F0502020204030204" pitchFamily="34" charset="0"/>
              </a:rPr>
              <a:t> than non-purchasers.</a:t>
            </a:r>
            <a:endParaRPr lang="en-US" sz="1100" dirty="0"/>
          </a:p>
          <a:p>
            <a:pPr marL="0" indent="0" algn="l">
              <a:lnSpc>
                <a:spcPct val="126000"/>
              </a:lnSpc>
              <a:buNone/>
            </a:pPr>
            <a:r>
              <a:rPr lang="en-US" sz="1100" dirty="0">
                <a:solidFill>
                  <a:srgbClr val="272525"/>
                </a:solidFill>
                <a:ea typeface="Calibri" panose="020F0502020204030204" pitchFamily="34" charset="0"/>
                <a:cs typeface="Calibri" panose="020F0502020204030204" pitchFamily="34" charset="0"/>
              </a:rPr>
              <a:t>Both age </a:t>
            </a:r>
            <a:r>
              <a:rPr lang="en-US" sz="1100" i="1" dirty="0">
                <a:solidFill>
                  <a:srgbClr val="272525"/>
                </a:solidFill>
                <a:ea typeface="Calibri" panose="020F0502020204030204" pitchFamily="34" charset="0"/>
                <a:cs typeface="Calibri" panose="020F0502020204030204" pitchFamily="34" charset="0"/>
              </a:rPr>
              <a:t>and</a:t>
            </a:r>
            <a:r>
              <a:rPr lang="en-US" sz="1100" dirty="0">
                <a:solidFill>
                  <a:srgbClr val="272525"/>
                </a:solidFill>
                <a:ea typeface="Calibri" panose="020F0502020204030204" pitchFamily="34" charset="0"/>
                <a:cs typeface="Calibri" panose="020F0502020204030204" pitchFamily="34" charset="0"/>
              </a:rPr>
              <a:t> salary are strong predictors of purchase behavior.</a:t>
            </a:r>
            <a:endParaRPr lang="en-US" sz="1100" dirty="0"/>
          </a:p>
        </p:txBody>
      </p:sp>
      <p:sp>
        <p:nvSpPr>
          <p:cNvPr id="6" name="Shape 3"/>
          <p:cNvSpPr/>
          <p:nvPr/>
        </p:nvSpPr>
        <p:spPr>
          <a:xfrm>
            <a:off x="4628183" y="2955705"/>
            <a:ext cx="4019624" cy="736625"/>
          </a:xfrm>
          <a:prstGeom prst="roundRect">
            <a:avLst>
              <a:gd name="adj" fmla="val 7199"/>
            </a:avLst>
          </a:prstGeom>
          <a:solidFill>
            <a:srgbClr val="FFFFFF"/>
          </a:solidFill>
          <a:ln w="14288">
            <a:solidFill>
              <a:srgbClr val="C0C1D7"/>
            </a:solidFill>
            <a:prstDash val="solid"/>
          </a:ln>
        </p:spPr>
      </p:sp>
      <p:grpSp>
        <p:nvGrpSpPr>
          <p:cNvPr id="12" name="Group 11">
            <a:extLst>
              <a:ext uri="{FF2B5EF4-FFF2-40B4-BE49-F238E27FC236}">
                <a16:creationId xmlns:a16="http://schemas.microsoft.com/office/drawing/2014/main" id="{1778BCF8-0E8A-B6FF-8B7A-379945BCDF67}"/>
              </a:ext>
            </a:extLst>
          </p:cNvPr>
          <p:cNvGrpSpPr/>
          <p:nvPr/>
        </p:nvGrpSpPr>
        <p:grpSpPr>
          <a:xfrm>
            <a:off x="4822403" y="3037791"/>
            <a:ext cx="3738637" cy="455637"/>
            <a:chOff x="636612" y="4126706"/>
            <a:chExt cx="3738637" cy="455637"/>
          </a:xfrm>
        </p:grpSpPr>
        <p:sp>
          <p:nvSpPr>
            <p:cNvPr id="7" name="Text 4"/>
            <p:cNvSpPr/>
            <p:nvPr/>
          </p:nvSpPr>
          <p:spPr>
            <a:xfrm>
              <a:off x="636612" y="4126706"/>
              <a:ext cx="3738637" cy="197272"/>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ea typeface="Calibri" panose="020F0502020204030204" pitchFamily="34" charset="0"/>
                  <a:cs typeface="Calibri" panose="020F0502020204030204" pitchFamily="34" charset="0"/>
                </a:rPr>
                <a:t>+13.6 years</a:t>
              </a:r>
              <a:endParaRPr lang="en-US" sz="1200" dirty="0"/>
            </a:p>
          </p:txBody>
        </p:sp>
        <p:sp>
          <p:nvSpPr>
            <p:cNvPr id="8" name="Text 5"/>
            <p:cNvSpPr/>
            <p:nvPr/>
          </p:nvSpPr>
          <p:spPr>
            <a:xfrm>
              <a:off x="636612" y="4391397"/>
              <a:ext cx="3738637" cy="190946"/>
            </a:xfrm>
            <a:prstGeom prst="rect">
              <a:avLst/>
            </a:prstGeom>
            <a:noFill/>
            <a:ln/>
          </p:spPr>
          <p:txBody>
            <a:bodyPr wrap="none" lIns="0" tIns="0" rIns="0" bIns="0" rtlCol="0" anchor="t"/>
            <a:lstStyle/>
            <a:p>
              <a:pPr marL="0" indent="0" algn="l">
                <a:lnSpc>
                  <a:spcPct val="126000"/>
                </a:lnSpc>
                <a:buNone/>
              </a:pPr>
              <a:r>
                <a:rPr lang="en-US" sz="950" dirty="0">
                  <a:solidFill>
                    <a:srgbClr val="272525"/>
                  </a:solidFill>
                  <a:ea typeface="Calibri" panose="020F0502020204030204" pitchFamily="34" charset="0"/>
                  <a:cs typeface="Calibri" panose="020F0502020204030204" pitchFamily="34" charset="0"/>
                </a:rPr>
                <a:t>Average age difference</a:t>
              </a:r>
              <a:endParaRPr lang="en-US" sz="950" dirty="0"/>
            </a:p>
          </p:txBody>
        </p:sp>
      </p:grpSp>
      <p:sp>
        <p:nvSpPr>
          <p:cNvPr id="9" name="Shape 6"/>
          <p:cNvSpPr/>
          <p:nvPr/>
        </p:nvSpPr>
        <p:spPr>
          <a:xfrm>
            <a:off x="4628183" y="3986213"/>
            <a:ext cx="4019699" cy="736625"/>
          </a:xfrm>
          <a:prstGeom prst="roundRect">
            <a:avLst>
              <a:gd name="adj" fmla="val 7199"/>
            </a:avLst>
          </a:prstGeom>
          <a:solidFill>
            <a:srgbClr val="FFFFFF"/>
          </a:solidFill>
          <a:ln w="14288">
            <a:solidFill>
              <a:srgbClr val="C0C1D7"/>
            </a:solidFill>
            <a:prstDash val="solid"/>
          </a:ln>
        </p:spPr>
      </p:sp>
      <p:sp>
        <p:nvSpPr>
          <p:cNvPr id="10" name="Text 7"/>
          <p:cNvSpPr/>
          <p:nvPr/>
        </p:nvSpPr>
        <p:spPr>
          <a:xfrm>
            <a:off x="4768676" y="4126706"/>
            <a:ext cx="3738711" cy="197272"/>
          </a:xfrm>
          <a:prstGeom prst="rect">
            <a:avLst/>
          </a:prstGeom>
          <a:noFill/>
          <a:ln/>
        </p:spPr>
        <p:txBody>
          <a:bodyPr wrap="none" lIns="0" tIns="0" rIns="0" bIns="0" rtlCol="0" anchor="t"/>
          <a:lstStyle/>
          <a:p>
            <a:pPr marL="0" indent="0" algn="l">
              <a:lnSpc>
                <a:spcPct val="104000"/>
              </a:lnSpc>
              <a:buNone/>
            </a:pPr>
            <a:r>
              <a:rPr lang="en-US" sz="1200" b="1" dirty="0">
                <a:solidFill>
                  <a:srgbClr val="272525"/>
                </a:solidFill>
                <a:ea typeface="Calibri" panose="020F0502020204030204" pitchFamily="34" charset="0"/>
                <a:cs typeface="Calibri" panose="020F0502020204030204" pitchFamily="34" charset="0"/>
              </a:rPr>
              <a:t>+$25,728</a:t>
            </a:r>
            <a:endParaRPr lang="en-US" sz="1200" dirty="0"/>
          </a:p>
        </p:txBody>
      </p:sp>
      <p:sp>
        <p:nvSpPr>
          <p:cNvPr id="11" name="Text 8"/>
          <p:cNvSpPr/>
          <p:nvPr/>
        </p:nvSpPr>
        <p:spPr>
          <a:xfrm>
            <a:off x="4768676" y="4391397"/>
            <a:ext cx="3738711" cy="190946"/>
          </a:xfrm>
          <a:prstGeom prst="rect">
            <a:avLst/>
          </a:prstGeom>
          <a:noFill/>
          <a:ln/>
        </p:spPr>
        <p:txBody>
          <a:bodyPr wrap="none" lIns="0" tIns="0" rIns="0" bIns="0" rtlCol="0" anchor="t"/>
          <a:lstStyle/>
          <a:p>
            <a:pPr marL="0" indent="0" algn="l">
              <a:lnSpc>
                <a:spcPct val="126000"/>
              </a:lnSpc>
              <a:buNone/>
            </a:pPr>
            <a:r>
              <a:rPr lang="en-US" sz="950" dirty="0">
                <a:solidFill>
                  <a:srgbClr val="272525"/>
                </a:solidFill>
                <a:ea typeface="Calibri" panose="020F0502020204030204" pitchFamily="34" charset="0"/>
                <a:cs typeface="Calibri" panose="020F0502020204030204" pitchFamily="34" charset="0"/>
              </a:rPr>
              <a:t>Average salary difference</a:t>
            </a:r>
            <a:endParaRPr lang="en-US" sz="950"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496119" y="723007"/>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ea typeface="Calibri" panose="020F0502020204030204" pitchFamily="34" charset="0"/>
                <a:cs typeface="Calibri" panose="020F0502020204030204" pitchFamily="34" charset="0"/>
              </a:rPr>
              <a:t>Age vs Salary: Scatter Plot Analysis</a:t>
            </a:r>
            <a:endParaRPr lang="en-US" sz="2750" dirty="0"/>
          </a:p>
        </p:txBody>
      </p:sp>
      <p:pic>
        <p:nvPicPr>
          <p:cNvPr id="3" name="Image 0" descr="preencoded.png"/>
          <p:cNvPicPr>
            <a:picLocks noChangeAspect="1"/>
          </p:cNvPicPr>
          <p:nvPr/>
        </p:nvPicPr>
        <p:blipFill>
          <a:blip r:embed="rId3"/>
          <a:stretch>
            <a:fillRect/>
          </a:stretch>
        </p:blipFill>
        <p:spPr>
          <a:xfrm>
            <a:off x="496119" y="1538064"/>
            <a:ext cx="3902943" cy="2722959"/>
          </a:xfrm>
          <a:prstGeom prst="rect">
            <a:avLst/>
          </a:prstGeom>
        </p:spPr>
      </p:pic>
      <p:sp>
        <p:nvSpPr>
          <p:cNvPr id="4" name="Text 1"/>
          <p:cNvSpPr/>
          <p:nvPr/>
        </p:nvSpPr>
        <p:spPr>
          <a:xfrm>
            <a:off x="4749701" y="1520354"/>
            <a:ext cx="3902943" cy="221456"/>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ea typeface="Calibri" panose="020F0502020204030204" pitchFamily="34" charset="0"/>
                <a:cs typeface="Calibri" panose="020F0502020204030204" pitchFamily="34" charset="0"/>
              </a:rPr>
              <a:t>Reading the Plot</a:t>
            </a:r>
            <a:endParaRPr lang="en-US" sz="1350" dirty="0"/>
          </a:p>
        </p:txBody>
      </p:sp>
      <p:sp>
        <p:nvSpPr>
          <p:cNvPr id="5" name="Text 2"/>
          <p:cNvSpPr/>
          <p:nvPr/>
        </p:nvSpPr>
        <p:spPr>
          <a:xfrm>
            <a:off x="4749701" y="1883569"/>
            <a:ext cx="390294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When plotted individually, </a:t>
            </a:r>
            <a:r>
              <a:rPr lang="en-US" sz="1100" b="1" dirty="0">
                <a:solidFill>
                  <a:srgbClr val="272525"/>
                </a:solidFill>
                <a:ea typeface="Calibri" panose="020F0502020204030204" pitchFamily="34" charset="0"/>
                <a:cs typeface="Calibri" panose="020F0502020204030204" pitchFamily="34" charset="0"/>
              </a:rPr>
              <a:t>green dots (purchasers)</a:t>
            </a:r>
            <a:r>
              <a:rPr lang="en-US" sz="1100" dirty="0">
                <a:solidFill>
                  <a:srgbClr val="272525"/>
                </a:solidFill>
                <a:ea typeface="Calibri" panose="020F0502020204030204" pitchFamily="34" charset="0"/>
                <a:cs typeface="Calibri" panose="020F0502020204030204" pitchFamily="34" charset="0"/>
              </a:rPr>
              <a:t> cluster toward the upper-right  older and higher-earning while </a:t>
            </a:r>
            <a:r>
              <a:rPr lang="en-US" sz="1100" b="1" dirty="0">
                <a:solidFill>
                  <a:srgbClr val="272525"/>
                </a:solidFill>
                <a:ea typeface="Calibri" panose="020F0502020204030204" pitchFamily="34" charset="0"/>
                <a:cs typeface="Calibri" panose="020F0502020204030204" pitchFamily="34" charset="0"/>
              </a:rPr>
              <a:t>red dots (non-purchasers)</a:t>
            </a:r>
            <a:r>
              <a:rPr lang="en-US" sz="1100" dirty="0">
                <a:solidFill>
                  <a:srgbClr val="272525"/>
                </a:solidFill>
                <a:ea typeface="Calibri" panose="020F0502020204030204" pitchFamily="34" charset="0"/>
                <a:cs typeface="Calibri" panose="020F0502020204030204" pitchFamily="34" charset="0"/>
              </a:rPr>
              <a:t> occupy the lower-left quadrant.</a:t>
            </a:r>
            <a:endParaRPr lang="en-US" sz="1100" dirty="0"/>
          </a:p>
        </p:txBody>
      </p:sp>
      <p:sp>
        <p:nvSpPr>
          <p:cNvPr id="6" name="Shape 3"/>
          <p:cNvSpPr/>
          <p:nvPr/>
        </p:nvSpPr>
        <p:spPr>
          <a:xfrm>
            <a:off x="4749701" y="2950294"/>
            <a:ext cx="3902943" cy="1006376"/>
          </a:xfrm>
          <a:prstGeom prst="roundRect">
            <a:avLst>
              <a:gd name="adj" fmla="val 5917"/>
            </a:avLst>
          </a:prstGeom>
          <a:solidFill>
            <a:srgbClr val="B6D6FC"/>
          </a:solidFill>
          <a:ln/>
        </p:spPr>
      </p:sp>
      <p:pic>
        <p:nvPicPr>
          <p:cNvPr id="7" name="Image 1" descr="preencoded.png"/>
          <p:cNvPicPr>
            <a:picLocks noChangeAspect="1"/>
          </p:cNvPicPr>
          <p:nvPr/>
        </p:nvPicPr>
        <p:blipFill>
          <a:blip r:embed="rId4"/>
          <a:stretch>
            <a:fillRect/>
          </a:stretch>
        </p:blipFill>
        <p:spPr>
          <a:xfrm>
            <a:off x="4891460" y="3165351"/>
            <a:ext cx="177180" cy="141759"/>
          </a:xfrm>
          <a:prstGeom prst="rect">
            <a:avLst/>
          </a:prstGeom>
        </p:spPr>
      </p:pic>
      <p:sp>
        <p:nvSpPr>
          <p:cNvPr id="8" name="Text 4"/>
          <p:cNvSpPr/>
          <p:nvPr/>
        </p:nvSpPr>
        <p:spPr>
          <a:xfrm>
            <a:off x="5210398" y="3113261"/>
            <a:ext cx="3300487"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ea typeface="Calibri" panose="020F0502020204030204" pitchFamily="34" charset="0"/>
                <a:cs typeface="Calibri" panose="020F0502020204030204" pitchFamily="34" charset="0"/>
              </a:rPr>
              <a:t>This clear separation confirms that age and salary together form a reliable purchase predictor.</a:t>
            </a:r>
            <a:endParaRPr lang="en-US" sz="1100" dirty="0"/>
          </a:p>
        </p:txBody>
      </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3" name="Text 0"/>
          <p:cNvSpPr/>
          <p:nvPr/>
        </p:nvSpPr>
        <p:spPr>
          <a:xfrm>
            <a:off x="274318" y="363393"/>
            <a:ext cx="8373563" cy="844600"/>
          </a:xfrm>
          <a:prstGeom prst="rect">
            <a:avLst/>
          </a:prstGeom>
          <a:noFill/>
          <a:ln/>
        </p:spPr>
        <p:txBody>
          <a:bodyPr wrap="square" lIns="0" tIns="0" rIns="0" bIns="0" rtlCol="0" anchor="t">
            <a:normAutofit/>
          </a:bodyPr>
          <a:lstStyle/>
          <a:p>
            <a:pPr marL="0" indent="0" algn="l">
              <a:lnSpc>
                <a:spcPct val="104000"/>
              </a:lnSpc>
              <a:buNone/>
            </a:pPr>
            <a:r>
              <a:rPr lang="en-US" sz="2650" b="1" dirty="0">
                <a:solidFill>
                  <a:srgbClr val="000000"/>
                </a:solidFill>
                <a:ea typeface="Calibri" panose="020F0502020204030204" pitchFamily="34" charset="0"/>
                <a:cs typeface="Calibri" panose="020F0502020204030204" pitchFamily="34" charset="0"/>
              </a:rPr>
              <a:t>Consumer Segments Identified</a:t>
            </a:r>
            <a:endParaRPr lang="en-US" sz="2650" dirty="0"/>
          </a:p>
        </p:txBody>
      </p:sp>
      <p:grpSp>
        <p:nvGrpSpPr>
          <p:cNvPr id="15" name="Group 14">
            <a:extLst>
              <a:ext uri="{FF2B5EF4-FFF2-40B4-BE49-F238E27FC236}">
                <a16:creationId xmlns:a16="http://schemas.microsoft.com/office/drawing/2014/main" id="{EF30899F-06F7-DB0B-358B-DF48C02B8179}"/>
              </a:ext>
            </a:extLst>
          </p:cNvPr>
          <p:cNvGrpSpPr/>
          <p:nvPr/>
        </p:nvGrpSpPr>
        <p:grpSpPr>
          <a:xfrm>
            <a:off x="3925118" y="1279326"/>
            <a:ext cx="4722763" cy="3164756"/>
            <a:chOff x="3925119" y="1508224"/>
            <a:chExt cx="4722763" cy="3164756"/>
          </a:xfrm>
        </p:grpSpPr>
        <p:sp>
          <p:nvSpPr>
            <p:cNvPr id="4" name="Shape 1"/>
            <p:cNvSpPr/>
            <p:nvPr/>
          </p:nvSpPr>
          <p:spPr>
            <a:xfrm>
              <a:off x="3925119" y="1508224"/>
              <a:ext cx="2297013" cy="1834679"/>
            </a:xfrm>
            <a:prstGeom prst="roundRect">
              <a:avLst>
                <a:gd name="adj" fmla="val 3093"/>
              </a:avLst>
            </a:prstGeom>
            <a:solidFill>
              <a:srgbClr val="DADBF1"/>
            </a:solidFill>
            <a:ln w="4763">
              <a:solidFill>
                <a:srgbClr val="C0C1D7"/>
              </a:solidFill>
              <a:prstDash val="solid"/>
            </a:ln>
          </p:spPr>
        </p:sp>
        <p:sp>
          <p:nvSpPr>
            <p:cNvPr id="5" name="Text 2"/>
            <p:cNvSpPr/>
            <p:nvPr/>
          </p:nvSpPr>
          <p:spPr>
            <a:xfrm>
              <a:off x="4064943" y="1648048"/>
              <a:ext cx="2017365" cy="422225"/>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66 High-Value Consumers</a:t>
              </a:r>
              <a:endParaRPr lang="en-US" sz="1300" dirty="0"/>
            </a:p>
          </p:txBody>
        </p:sp>
        <p:sp>
          <p:nvSpPr>
            <p:cNvPr id="6" name="Text 3"/>
            <p:cNvSpPr/>
            <p:nvPr/>
          </p:nvSpPr>
          <p:spPr>
            <a:xfrm>
              <a:off x="4064943" y="2147515"/>
              <a:ext cx="2017365"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272525"/>
                  </a:solidFill>
                  <a:ea typeface="Calibri" panose="020F0502020204030204" pitchFamily="34" charset="0"/>
                  <a:cs typeface="Calibri" panose="020F0502020204030204" pitchFamily="34" charset="0"/>
                </a:rPr>
                <a:t>Identified purchasers predominantly aged 40+, with above-average salaries. Prime targets for premium product offerings and loyalty programs.</a:t>
              </a:r>
              <a:endParaRPr lang="en-US" sz="1050" dirty="0"/>
            </a:p>
          </p:txBody>
        </p:sp>
        <p:sp>
          <p:nvSpPr>
            <p:cNvPr id="7" name="Shape 4"/>
            <p:cNvSpPr/>
            <p:nvPr/>
          </p:nvSpPr>
          <p:spPr>
            <a:xfrm>
              <a:off x="6350868" y="1508224"/>
              <a:ext cx="2297013" cy="1834679"/>
            </a:xfrm>
            <a:prstGeom prst="roundRect">
              <a:avLst>
                <a:gd name="adj" fmla="val 3093"/>
              </a:avLst>
            </a:prstGeom>
            <a:solidFill>
              <a:srgbClr val="DADBF1"/>
            </a:solidFill>
            <a:ln w="4763">
              <a:solidFill>
                <a:srgbClr val="C0C1D7"/>
              </a:solidFill>
              <a:prstDash val="solid"/>
            </a:ln>
          </p:spPr>
        </p:sp>
        <p:sp>
          <p:nvSpPr>
            <p:cNvPr id="8" name="Text 5"/>
            <p:cNvSpPr/>
            <p:nvPr/>
          </p:nvSpPr>
          <p:spPr>
            <a:xfrm>
              <a:off x="6490692" y="1648048"/>
              <a:ext cx="2017365" cy="422225"/>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34 Untapped Consumers</a:t>
              </a:r>
              <a:endParaRPr lang="en-US" sz="1300" dirty="0"/>
            </a:p>
          </p:txBody>
        </p:sp>
        <p:sp>
          <p:nvSpPr>
            <p:cNvPr id="9" name="Text 6"/>
            <p:cNvSpPr/>
            <p:nvPr/>
          </p:nvSpPr>
          <p:spPr>
            <a:xfrm>
              <a:off x="6490692" y="2147515"/>
              <a:ext cx="2017365"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272525"/>
                  </a:solidFill>
                  <a:ea typeface="Calibri" panose="020F0502020204030204" pitchFamily="34" charset="0"/>
                  <a:cs typeface="Calibri" panose="020F0502020204030204" pitchFamily="34" charset="0"/>
                </a:rPr>
                <a:t>Age 30–50 with salaries above $50k who have not yet purchased. Represent a clear opportunity for targeted re-engagement campaigns.</a:t>
              </a:r>
              <a:endParaRPr lang="en-US" sz="1050" dirty="0"/>
            </a:p>
          </p:txBody>
        </p:sp>
        <p:sp>
          <p:nvSpPr>
            <p:cNvPr id="10" name="Shape 7"/>
            <p:cNvSpPr/>
            <p:nvPr/>
          </p:nvSpPr>
          <p:spPr>
            <a:xfrm>
              <a:off x="3925119" y="3471639"/>
              <a:ext cx="4722763" cy="1201341"/>
            </a:xfrm>
            <a:prstGeom prst="roundRect">
              <a:avLst>
                <a:gd name="adj" fmla="val 4724"/>
              </a:avLst>
            </a:prstGeom>
            <a:solidFill>
              <a:srgbClr val="DADBF1"/>
            </a:solidFill>
            <a:ln w="4763">
              <a:solidFill>
                <a:srgbClr val="C0C1D7"/>
              </a:solidFill>
              <a:prstDash val="solid"/>
            </a:ln>
          </p:spPr>
        </p:sp>
        <p:sp>
          <p:nvSpPr>
            <p:cNvPr id="11" name="Text 8"/>
            <p:cNvSpPr/>
            <p:nvPr/>
          </p:nvSpPr>
          <p:spPr>
            <a:xfrm>
              <a:off x="4064943" y="3611463"/>
              <a:ext cx="4443115" cy="211113"/>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Young Professionals</a:t>
              </a:r>
              <a:endParaRPr lang="en-US" sz="1300" dirty="0"/>
            </a:p>
          </p:txBody>
        </p:sp>
        <p:sp>
          <p:nvSpPr>
            <p:cNvPr id="12" name="Text 9"/>
            <p:cNvSpPr/>
            <p:nvPr/>
          </p:nvSpPr>
          <p:spPr>
            <a:xfrm>
              <a:off x="4064943" y="3899818"/>
              <a:ext cx="4443115" cy="633338"/>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272525"/>
                  </a:solidFill>
                  <a:ea typeface="Calibri" panose="020F0502020204030204" pitchFamily="34" charset="0"/>
                  <a:cs typeface="Calibri" panose="020F0502020204030204" pitchFamily="34" charset="0"/>
                </a:rPr>
                <a:t>Lower purchase rates in their 20s–30s, but represent future high-value customers. Affordable entry-level products can build early brand loyalty.</a:t>
              </a:r>
              <a:endParaRPr lang="en-US" sz="1050" dirty="0"/>
            </a:p>
          </p:txBody>
        </p:sp>
      </p:grpSp>
      <p:pic>
        <p:nvPicPr>
          <p:cNvPr id="14" name="Picture 13">
            <a:extLst>
              <a:ext uri="{FF2B5EF4-FFF2-40B4-BE49-F238E27FC236}">
                <a16:creationId xmlns:a16="http://schemas.microsoft.com/office/drawing/2014/main" id="{D88D7C92-52F1-DAFD-8547-998905FD4077}"/>
              </a:ext>
            </a:extLst>
          </p:cNvPr>
          <p:cNvPicPr>
            <a:picLocks noChangeAspect="1"/>
          </p:cNvPicPr>
          <p:nvPr/>
        </p:nvPicPr>
        <p:blipFill>
          <a:blip r:embed="rId3"/>
          <a:stretch>
            <a:fillRect/>
          </a:stretch>
        </p:blipFill>
        <p:spPr>
          <a:xfrm>
            <a:off x="108632" y="1190253"/>
            <a:ext cx="3746575" cy="3342903"/>
          </a:xfrm>
          <a:prstGeom prst="rect">
            <a:avLst/>
          </a:prstGeom>
        </p:spPr>
      </p:pic>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496119" y="514201"/>
            <a:ext cx="8151763" cy="415305"/>
          </a:xfrm>
          <a:prstGeom prst="rect">
            <a:avLst/>
          </a:prstGeom>
          <a:noFill/>
          <a:ln/>
        </p:spPr>
        <p:txBody>
          <a:bodyPr wrap="none" lIns="0" tIns="0" rIns="0" bIns="0" rtlCol="0" anchor="t"/>
          <a:lstStyle/>
          <a:p>
            <a:pPr marL="0" indent="0" algn="l">
              <a:lnSpc>
                <a:spcPct val="104000"/>
              </a:lnSpc>
              <a:buNone/>
            </a:pPr>
            <a:r>
              <a:rPr lang="en-US" sz="2600" b="1" dirty="0">
                <a:solidFill>
                  <a:srgbClr val="000000"/>
                </a:solidFill>
                <a:ea typeface="Calibri" panose="020F0502020204030204" pitchFamily="34" charset="0"/>
                <a:cs typeface="Calibri" panose="020F0502020204030204" pitchFamily="34" charset="0"/>
              </a:rPr>
              <a:t>Conclusions &amp; Recommendations</a:t>
            </a:r>
            <a:endParaRPr lang="en-US" sz="2600" dirty="0"/>
          </a:p>
        </p:txBody>
      </p:sp>
      <p:sp>
        <p:nvSpPr>
          <p:cNvPr id="3" name="Text 1"/>
          <p:cNvSpPr/>
          <p:nvPr/>
        </p:nvSpPr>
        <p:spPr>
          <a:xfrm>
            <a:off x="496119" y="1240929"/>
            <a:ext cx="3913808" cy="207690"/>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ea typeface="Calibri" panose="020F0502020204030204" pitchFamily="34" charset="0"/>
                <a:cs typeface="Calibri" panose="020F0502020204030204" pitchFamily="34" charset="0"/>
              </a:rPr>
              <a:t>Key Findings</a:t>
            </a:r>
            <a:endParaRPr lang="en-US" sz="1300" dirty="0"/>
          </a:p>
        </p:txBody>
      </p:sp>
      <p:sp>
        <p:nvSpPr>
          <p:cNvPr id="4" name="Text 2"/>
          <p:cNvSpPr/>
          <p:nvPr/>
        </p:nvSpPr>
        <p:spPr>
          <a:xfrm>
            <a:off x="496119" y="1573188"/>
            <a:ext cx="3913808" cy="1117104"/>
          </a:xfrm>
          <a:prstGeom prst="rect">
            <a:avLst/>
          </a:prstGeom>
          <a:noFill/>
          <a:ln/>
        </p:spPr>
        <p:txBody>
          <a:bodyPr wrap="square" lIns="0" tIns="0" rIns="0" bIns="0" rtlCol="0" anchor="t">
            <a:normAutofit/>
          </a:bodyPr>
          <a:lstStyle/>
          <a:p>
            <a:pPr marL="203200" indent="-203200" algn="l">
              <a:lnSpc>
                <a:spcPct val="129000"/>
              </a:lnSpc>
              <a:buSzPct val="100000"/>
              <a:buChar char="•"/>
            </a:pPr>
            <a:r>
              <a:rPr lang="en-US" sz="1000" dirty="0">
                <a:solidFill>
                  <a:srgbClr val="272525"/>
                </a:solidFill>
                <a:ea typeface="Calibri" panose="020F0502020204030204" pitchFamily="34" charset="0"/>
                <a:cs typeface="Calibri" panose="020F0502020204030204" pitchFamily="34" charset="0"/>
              </a:rPr>
              <a:t>Age is the strongest purchase predictor </a:t>
            </a:r>
            <a:r>
              <a:rPr lang="en-US" sz="1000" b="1" dirty="0">
                <a:solidFill>
                  <a:srgbClr val="272525"/>
                </a:solidFill>
                <a:ea typeface="Calibri" panose="020F0502020204030204" pitchFamily="34" charset="0"/>
                <a:cs typeface="Calibri" panose="020F0502020204030204" pitchFamily="34" charset="0"/>
              </a:rPr>
              <a:t>91.8%</a:t>
            </a:r>
            <a:r>
              <a:rPr lang="en-US" sz="1000" dirty="0">
                <a:solidFill>
                  <a:srgbClr val="272525"/>
                </a:solidFill>
                <a:ea typeface="Calibri" panose="020F0502020204030204" pitchFamily="34" charset="0"/>
                <a:cs typeface="Calibri" panose="020F0502020204030204" pitchFamily="34" charset="0"/>
              </a:rPr>
              <a:t> for 50+</a:t>
            </a:r>
            <a:endParaRPr lang="en-US" sz="1000" dirty="0"/>
          </a:p>
          <a:p>
            <a:pPr marL="203200" indent="-203200" algn="l">
              <a:lnSpc>
                <a:spcPct val="129000"/>
              </a:lnSpc>
              <a:buSzPct val="100000"/>
              <a:buChar char="•"/>
            </a:pPr>
            <a:r>
              <a:rPr lang="en-US" sz="1000" dirty="0">
                <a:solidFill>
                  <a:srgbClr val="272525"/>
                </a:solidFill>
                <a:ea typeface="Calibri" panose="020F0502020204030204" pitchFamily="34" charset="0"/>
                <a:cs typeface="Calibri" panose="020F0502020204030204" pitchFamily="34" charset="0"/>
              </a:rPr>
              <a:t>Purchasers are </a:t>
            </a:r>
            <a:r>
              <a:rPr lang="en-US" sz="1000" b="1" dirty="0">
                <a:solidFill>
                  <a:srgbClr val="272525"/>
                </a:solidFill>
                <a:ea typeface="Calibri" panose="020F0502020204030204" pitchFamily="34" charset="0"/>
                <a:cs typeface="Calibri" panose="020F0502020204030204" pitchFamily="34" charset="0"/>
              </a:rPr>
              <a:t>+13.6 years</a:t>
            </a:r>
            <a:r>
              <a:rPr lang="en-US" sz="1000" dirty="0">
                <a:solidFill>
                  <a:srgbClr val="272525"/>
                </a:solidFill>
                <a:ea typeface="Calibri" panose="020F0502020204030204" pitchFamily="34" charset="0"/>
                <a:cs typeface="Calibri" panose="020F0502020204030204" pitchFamily="34" charset="0"/>
              </a:rPr>
              <a:t> older and earn </a:t>
            </a:r>
            <a:r>
              <a:rPr lang="en-US" sz="1000" b="1" dirty="0">
                <a:solidFill>
                  <a:srgbClr val="272525"/>
                </a:solidFill>
                <a:ea typeface="Calibri" panose="020F0502020204030204" pitchFamily="34" charset="0"/>
                <a:cs typeface="Calibri" panose="020F0502020204030204" pitchFamily="34" charset="0"/>
              </a:rPr>
              <a:t>+$25,728</a:t>
            </a:r>
            <a:r>
              <a:rPr lang="en-US" sz="1000" dirty="0">
                <a:solidFill>
                  <a:srgbClr val="272525"/>
                </a:solidFill>
                <a:ea typeface="Calibri" panose="020F0502020204030204" pitchFamily="34" charset="0"/>
                <a:cs typeface="Calibri" panose="020F0502020204030204" pitchFamily="34" charset="0"/>
              </a:rPr>
              <a:t> more</a:t>
            </a:r>
            <a:endParaRPr lang="en-US" sz="1000" dirty="0"/>
          </a:p>
          <a:p>
            <a:pPr marL="203200" indent="-203200" algn="l">
              <a:lnSpc>
                <a:spcPct val="129000"/>
              </a:lnSpc>
              <a:buSzPct val="100000"/>
              <a:buChar char="•"/>
            </a:pPr>
            <a:r>
              <a:rPr lang="en-US" sz="1000" dirty="0">
                <a:solidFill>
                  <a:srgbClr val="272525"/>
                </a:solidFill>
                <a:ea typeface="Calibri" panose="020F0502020204030204" pitchFamily="34" charset="0"/>
                <a:cs typeface="Calibri" panose="020F0502020204030204" pitchFamily="34" charset="0"/>
              </a:rPr>
              <a:t>66 high-value consumers identified; 34 untapped prospects remain</a:t>
            </a:r>
            <a:endParaRPr lang="en-US" sz="1000" dirty="0"/>
          </a:p>
        </p:txBody>
      </p:sp>
      <p:sp>
        <p:nvSpPr>
          <p:cNvPr id="5" name="Text 3"/>
          <p:cNvSpPr/>
          <p:nvPr/>
        </p:nvSpPr>
        <p:spPr>
          <a:xfrm>
            <a:off x="4738836" y="1240929"/>
            <a:ext cx="3913808" cy="207690"/>
          </a:xfrm>
          <a:prstGeom prst="rect">
            <a:avLst/>
          </a:prstGeom>
          <a:noFill/>
          <a:ln/>
        </p:spPr>
        <p:txBody>
          <a:bodyPr wrap="none" lIns="0" tIns="0" rIns="0" bIns="0" rtlCol="0" anchor="t"/>
          <a:lstStyle/>
          <a:p>
            <a:pPr marL="0" indent="0" algn="l">
              <a:lnSpc>
                <a:spcPct val="104000"/>
              </a:lnSpc>
              <a:buNone/>
            </a:pPr>
            <a:r>
              <a:rPr lang="en-US" sz="1300" b="1" dirty="0">
                <a:solidFill>
                  <a:srgbClr val="000000"/>
                </a:solidFill>
                <a:ea typeface="Calibri" panose="020F0502020204030204" pitchFamily="34" charset="0"/>
                <a:cs typeface="Calibri" panose="020F0502020204030204" pitchFamily="34" charset="0"/>
              </a:rPr>
              <a:t>Strategic Recommendations</a:t>
            </a:r>
            <a:endParaRPr lang="en-US" sz="13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8619" y="1592833"/>
            <a:ext cx="199355" cy="199355"/>
          </a:xfrm>
          <a:prstGeom prst="rect">
            <a:avLst/>
          </a:prstGeom>
        </p:spPr>
      </p:pic>
      <p:sp>
        <p:nvSpPr>
          <p:cNvPr id="7" name="Text 4"/>
          <p:cNvSpPr/>
          <p:nvPr/>
        </p:nvSpPr>
        <p:spPr>
          <a:xfrm>
            <a:off x="5170736" y="1588740"/>
            <a:ext cx="3481908"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Target 40+ demographics</a:t>
            </a:r>
            <a:endParaRPr lang="en-US" sz="1300" dirty="0"/>
          </a:p>
        </p:txBody>
      </p:sp>
      <p:sp>
        <p:nvSpPr>
          <p:cNvPr id="8" name="Text 5"/>
          <p:cNvSpPr/>
          <p:nvPr/>
        </p:nvSpPr>
        <p:spPr>
          <a:xfrm>
            <a:off x="5170736" y="1920999"/>
            <a:ext cx="3481908"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ea typeface="Calibri" panose="020F0502020204030204" pitchFamily="34" charset="0"/>
                <a:cs typeface="Calibri" panose="020F0502020204030204" pitchFamily="34" charset="0"/>
              </a:rPr>
              <a:t>Highest conversion potential</a:t>
            </a:r>
            <a:endParaRPr lang="en-US" sz="10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8619" y="2380208"/>
            <a:ext cx="199355" cy="199355"/>
          </a:xfrm>
          <a:prstGeom prst="rect">
            <a:avLst/>
          </a:prstGeom>
        </p:spPr>
      </p:pic>
      <p:sp>
        <p:nvSpPr>
          <p:cNvPr id="10" name="Text 6"/>
          <p:cNvSpPr/>
          <p:nvPr/>
        </p:nvSpPr>
        <p:spPr>
          <a:xfrm>
            <a:off x="5170736" y="2376115"/>
            <a:ext cx="3481908"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Premium products for high earners</a:t>
            </a:r>
            <a:endParaRPr lang="en-US" sz="1300" dirty="0"/>
          </a:p>
        </p:txBody>
      </p:sp>
      <p:sp>
        <p:nvSpPr>
          <p:cNvPr id="11" name="Text 7"/>
          <p:cNvSpPr/>
          <p:nvPr/>
        </p:nvSpPr>
        <p:spPr>
          <a:xfrm>
            <a:off x="5170736" y="2708374"/>
            <a:ext cx="3481908"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ea typeface="Calibri" panose="020F0502020204030204" pitchFamily="34" charset="0"/>
                <a:cs typeface="Calibri" panose="020F0502020204030204" pitchFamily="34" charset="0"/>
              </a:rPr>
              <a:t>Match salary to offering</a:t>
            </a:r>
            <a:endParaRPr lang="en-US" sz="10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8619" y="3167583"/>
            <a:ext cx="199355" cy="199355"/>
          </a:xfrm>
          <a:prstGeom prst="rect">
            <a:avLst/>
          </a:prstGeom>
        </p:spPr>
      </p:pic>
      <p:sp>
        <p:nvSpPr>
          <p:cNvPr id="13" name="Text 8"/>
          <p:cNvSpPr/>
          <p:nvPr/>
        </p:nvSpPr>
        <p:spPr>
          <a:xfrm>
            <a:off x="5170736" y="3163491"/>
            <a:ext cx="3481908"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Affordable options for young professionals</a:t>
            </a:r>
            <a:endParaRPr lang="en-US" sz="1300" dirty="0"/>
          </a:p>
        </p:txBody>
      </p:sp>
      <p:sp>
        <p:nvSpPr>
          <p:cNvPr id="14" name="Text 9"/>
          <p:cNvSpPr/>
          <p:nvPr/>
        </p:nvSpPr>
        <p:spPr>
          <a:xfrm>
            <a:off x="5170736" y="3495749"/>
            <a:ext cx="3481908"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ea typeface="Calibri" panose="020F0502020204030204" pitchFamily="34" charset="0"/>
                <a:cs typeface="Calibri" panose="020F0502020204030204" pitchFamily="34" charset="0"/>
              </a:rPr>
              <a:t>Build long-term loyalty</a:t>
            </a:r>
            <a:endParaRPr lang="en-US" sz="10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8619" y="3954959"/>
            <a:ext cx="199355" cy="199355"/>
          </a:xfrm>
          <a:prstGeom prst="rect">
            <a:avLst/>
          </a:prstGeom>
        </p:spPr>
      </p:pic>
      <p:sp>
        <p:nvSpPr>
          <p:cNvPr id="16" name="Text 10"/>
          <p:cNvSpPr/>
          <p:nvPr/>
        </p:nvSpPr>
        <p:spPr>
          <a:xfrm>
            <a:off x="5170736" y="3950866"/>
            <a:ext cx="3481908"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ea typeface="Calibri" panose="020F0502020204030204" pitchFamily="34" charset="0"/>
                <a:cs typeface="Calibri" panose="020F0502020204030204" pitchFamily="34" charset="0"/>
              </a:rPr>
              <a:t>Age-based segmentation</a:t>
            </a:r>
            <a:endParaRPr lang="en-US" sz="1300" dirty="0"/>
          </a:p>
        </p:txBody>
      </p:sp>
      <p:sp>
        <p:nvSpPr>
          <p:cNvPr id="17" name="Text 11"/>
          <p:cNvSpPr/>
          <p:nvPr/>
        </p:nvSpPr>
        <p:spPr>
          <a:xfrm>
            <a:off x="5170736" y="4283125"/>
            <a:ext cx="3481908"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ea typeface="Calibri" panose="020F0502020204030204" pitchFamily="34" charset="0"/>
                <a:cs typeface="Calibri" panose="020F0502020204030204" pitchFamily="34" charset="0"/>
              </a:rPr>
              <a:t>Tailor messaging by group</a:t>
            </a:r>
            <a:endParaRPr lang="en-US" sz="10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3" name="Text 0"/>
          <p:cNvSpPr/>
          <p:nvPr/>
        </p:nvSpPr>
        <p:spPr>
          <a:xfrm>
            <a:off x="358141" y="416198"/>
            <a:ext cx="8289742"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000000"/>
                </a:solidFill>
                <a:ea typeface="Calibri" panose="020F0502020204030204" pitchFamily="34" charset="0"/>
                <a:cs typeface="Calibri" panose="020F0502020204030204" pitchFamily="34" charset="0"/>
              </a:rPr>
              <a:t>Limitations &amp; Future Improvements</a:t>
            </a:r>
            <a:endParaRPr lang="en-US" sz="27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5119" y="1514773"/>
            <a:ext cx="4722763" cy="1535385"/>
          </a:xfrm>
          <a:prstGeom prst="rect">
            <a:avLst/>
          </a:prstGeom>
        </p:spPr>
      </p:pic>
      <p:sp>
        <p:nvSpPr>
          <p:cNvPr id="5" name="Text 1"/>
          <p:cNvSpPr/>
          <p:nvPr/>
        </p:nvSpPr>
        <p:spPr>
          <a:xfrm>
            <a:off x="4162127" y="1675581"/>
            <a:ext cx="4324945"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Current Limitations</a:t>
            </a:r>
            <a:endParaRPr lang="en-US" sz="1350" dirty="0"/>
          </a:p>
        </p:txBody>
      </p:sp>
      <p:sp>
        <p:nvSpPr>
          <p:cNvPr id="6" name="Text 2"/>
          <p:cNvSpPr/>
          <p:nvPr/>
        </p:nvSpPr>
        <p:spPr>
          <a:xfrm>
            <a:off x="4162127" y="1982093"/>
            <a:ext cx="432494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The dataset includes only </a:t>
            </a:r>
            <a:r>
              <a:rPr lang="en-US" sz="1100" b="1" dirty="0">
                <a:solidFill>
                  <a:srgbClr val="272525"/>
                </a:solidFill>
                <a:ea typeface="Calibri" panose="020F0502020204030204" pitchFamily="34" charset="0"/>
                <a:cs typeface="Calibri" panose="020F0502020204030204" pitchFamily="34" charset="0"/>
              </a:rPr>
              <a:t>Age</a:t>
            </a:r>
            <a:r>
              <a:rPr lang="en-US" sz="1100" dirty="0">
                <a:solidFill>
                  <a:srgbClr val="272525"/>
                </a:solidFill>
                <a:ea typeface="Calibri" panose="020F0502020204030204" pitchFamily="34" charset="0"/>
                <a:cs typeface="Calibri" panose="020F0502020204030204" pitchFamily="34" charset="0"/>
              </a:rPr>
              <a:t> and </a:t>
            </a:r>
            <a:r>
              <a:rPr lang="en-US" sz="1100" b="1" dirty="0">
                <a:solidFill>
                  <a:srgbClr val="272525"/>
                </a:solidFill>
                <a:ea typeface="Calibri" panose="020F0502020204030204" pitchFamily="34" charset="0"/>
                <a:cs typeface="Calibri" panose="020F0502020204030204" pitchFamily="34" charset="0"/>
              </a:rPr>
              <a:t>Estimated Salary</a:t>
            </a:r>
            <a:r>
              <a:rPr lang="en-US" sz="1100" dirty="0">
                <a:solidFill>
                  <a:srgbClr val="272525"/>
                </a:solidFill>
                <a:ea typeface="Calibri" panose="020F0502020204030204" pitchFamily="34" charset="0"/>
                <a:cs typeface="Calibri" panose="020F0502020204030204" pitchFamily="34" charset="0"/>
              </a:rPr>
              <a:t>. Factors such as gender, location, browsing behavior, and product category are absent limiting the depth of segmentation possible.</a:t>
            </a:r>
            <a:endParaRPr lang="en-US" sz="11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5119" y="3191917"/>
            <a:ext cx="4722763" cy="1535385"/>
          </a:xfrm>
          <a:prstGeom prst="rect">
            <a:avLst/>
          </a:prstGeom>
        </p:spPr>
      </p:pic>
      <p:sp>
        <p:nvSpPr>
          <p:cNvPr id="8" name="Text 3"/>
          <p:cNvSpPr/>
          <p:nvPr/>
        </p:nvSpPr>
        <p:spPr>
          <a:xfrm>
            <a:off x="4162127" y="3352726"/>
            <a:ext cx="4324945"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ea typeface="Calibri" panose="020F0502020204030204" pitchFamily="34" charset="0"/>
                <a:cs typeface="Calibri" panose="020F0502020204030204" pitchFamily="34" charset="0"/>
              </a:rPr>
              <a:t>Future Improvements</a:t>
            </a:r>
            <a:endParaRPr lang="en-US" sz="1350" dirty="0"/>
          </a:p>
        </p:txBody>
      </p:sp>
      <p:sp>
        <p:nvSpPr>
          <p:cNvPr id="9" name="Text 4"/>
          <p:cNvSpPr/>
          <p:nvPr/>
        </p:nvSpPr>
        <p:spPr>
          <a:xfrm>
            <a:off x="4162127" y="3659237"/>
            <a:ext cx="432494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ea typeface="Calibri" panose="020F0502020204030204" pitchFamily="34" charset="0"/>
                <a:cs typeface="Calibri" panose="020F0502020204030204" pitchFamily="34" charset="0"/>
              </a:rPr>
              <a:t>Enrich the dataset with additional consumer features  purchase history, geographic data, and psychographic variables to build more nuanced predictive models and personalized marketing strategies.</a:t>
            </a:r>
            <a:endParaRPr lang="en-US" sz="1100" dirty="0"/>
          </a:p>
        </p:txBody>
      </p:sp>
      <p:pic>
        <p:nvPicPr>
          <p:cNvPr id="10" name="Picture 9" descr="The Future of Work: Navigating the New Norm - AIM">
            <a:extLst>
              <a:ext uri="{FF2B5EF4-FFF2-40B4-BE49-F238E27FC236}">
                <a16:creationId xmlns:a16="http://schemas.microsoft.com/office/drawing/2014/main" id="{02FA1EF7-FFF1-B46B-BB08-5EEB38345B56}"/>
              </a:ext>
            </a:extLst>
          </p:cNvPr>
          <p:cNvPicPr>
            <a:picLocks noChangeAspect="1"/>
          </p:cNvPicPr>
          <p:nvPr/>
        </p:nvPicPr>
        <p:blipFill>
          <a:blip r:embed="rId4"/>
          <a:stretch>
            <a:fillRect/>
          </a:stretch>
        </p:blipFill>
        <p:spPr>
          <a:xfrm>
            <a:off x="438447" y="2057883"/>
            <a:ext cx="3325862" cy="1662931"/>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590</Words>
  <Application>Microsoft Office PowerPoint</Application>
  <PresentationFormat>On-screen Show (16:9)</PresentationFormat>
  <Paragraphs>102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c:creator>
  <cp:lastModifiedBy>Alisha Sh</cp:lastModifiedBy>
  <cp:revision>6</cp:revision>
  <dcterms:created xsi:type="dcterms:W3CDTF">2026-07-09T11:56:25Z</dcterms:created>
  <dcterms:modified xsi:type="dcterms:W3CDTF">2026-07-09T12:37:22Z</dcterms:modified>
</cp:coreProperties>
</file>